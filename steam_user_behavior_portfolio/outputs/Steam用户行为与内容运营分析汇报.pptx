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34fbda7fb43f7" /><Relationship Type="http://schemas.openxmlformats.org/officeDocument/2006/relationships/extended-properties" Target="/docProps/app.xml" Id="Rfd6101473df14e29" /><Relationship Type="http://schemas.openxmlformats.org/officeDocument/2006/relationships/officeDocument" Target="/ppt/presentation.xml" Id="R07e5a3a6c46c41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2beef4f0049e6"/>
  </p:sldMasterIdLst>
  <p:notesMasterIdLst>
    <p:notesMasterId xmlns:r="http://schemas.openxmlformats.org/officeDocument/2006/relationships" r:id="R0fbdaf0469244601"/>
  </p:notesMasterIdLst>
  <p:sldIdLst>
    <p:sldId xmlns:r="http://schemas.openxmlformats.org/officeDocument/2006/relationships" id="256" r:id="R02ea2647c2d0439e"/>
    <p:sldId xmlns:r="http://schemas.openxmlformats.org/officeDocument/2006/relationships" id="257" r:id="R718d20dadcef4560"/>
    <p:sldId xmlns:r="http://schemas.openxmlformats.org/officeDocument/2006/relationships" id="258" r:id="Rfb58c781c7964403"/>
    <p:sldId xmlns:r="http://schemas.openxmlformats.org/officeDocument/2006/relationships" id="259" r:id="Rb5f28de3d7cf4cb1"/>
    <p:sldId xmlns:r="http://schemas.openxmlformats.org/officeDocument/2006/relationships" id="260" r:id="R34a7eaa78a694578"/>
    <p:sldId xmlns:r="http://schemas.openxmlformats.org/officeDocument/2006/relationships" id="261" r:id="Rf6f4cc8f2bc94ed1"/>
    <p:sldId xmlns:r="http://schemas.openxmlformats.org/officeDocument/2006/relationships" id="262" r:id="R57e43c6cd53d4d30"/>
    <p:sldId xmlns:r="http://schemas.openxmlformats.org/officeDocument/2006/relationships" id="263" r:id="Rb27b05149f53463a"/>
    <p:sldId xmlns:r="http://schemas.openxmlformats.org/officeDocument/2006/relationships" id="264" r:id="R47f0d5c645e04b62"/>
    <p:sldId xmlns:r="http://schemas.openxmlformats.org/officeDocument/2006/relationships" id="265" r:id="R084e439d39fe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827910b9c4eb3" /><Relationship Type="http://schemas.openxmlformats.org/officeDocument/2006/relationships/slideMaster" Target="/ppt/slideMasters/slideMaster1.xml" Id="Rd102beef4f0049e6" /><Relationship Type="http://schemas.openxmlformats.org/officeDocument/2006/relationships/notesMaster" Target="/ppt/notesMasters/notesMaster1.xml" Id="R0fbdaf0469244601" /><Relationship Type="http://schemas.openxmlformats.org/officeDocument/2006/relationships/presProps" Target="/ppt/presProps.xml" Id="R03733a0981e44df3" /><Relationship Type="http://schemas.openxmlformats.org/officeDocument/2006/relationships/tableStyles" Target="/ppt/tableStyles.xml" Id="R2d3596728c394647" /><Relationship Type="http://schemas.openxmlformats.org/officeDocument/2006/relationships/slide" Target="/ppt/slides/slide1.xml" Id="R02ea2647c2d0439e" /><Relationship Type="http://schemas.openxmlformats.org/officeDocument/2006/relationships/slide" Target="/ppt/slides/slide2.xml" Id="R718d20dadcef4560" /><Relationship Type="http://schemas.openxmlformats.org/officeDocument/2006/relationships/slide" Target="/ppt/slides/slide3.xml" Id="Rfb58c781c7964403" /><Relationship Type="http://schemas.openxmlformats.org/officeDocument/2006/relationships/slide" Target="/ppt/slides/slide4.xml" Id="Rb5f28de3d7cf4cb1" /><Relationship Type="http://schemas.openxmlformats.org/officeDocument/2006/relationships/slide" Target="/ppt/slides/slide5.xml" Id="R34a7eaa78a694578" /><Relationship Type="http://schemas.openxmlformats.org/officeDocument/2006/relationships/slide" Target="/ppt/slides/slide6.xml" Id="Rf6f4cc8f2bc94ed1" /><Relationship Type="http://schemas.openxmlformats.org/officeDocument/2006/relationships/slide" Target="/ppt/slides/slide7.xml" Id="R57e43c6cd53d4d30" /><Relationship Type="http://schemas.openxmlformats.org/officeDocument/2006/relationships/slide" Target="/ppt/slides/slide8.xml" Id="Rb27b05149f53463a" /><Relationship Type="http://schemas.openxmlformats.org/officeDocument/2006/relationships/slide" Target="/ppt/slides/slide9.xml" Id="R47f0d5c645e04b62" /><Relationship Type="http://schemas.openxmlformats.org/officeDocument/2006/relationships/slide" Target="/ppt/slides/slide10.xml" Id="R084e439d39fe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225616a0a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97d39cbf44e24" /><Relationship Type="http://schemas.openxmlformats.org/officeDocument/2006/relationships/notesMaster" Target="/ppt/notesMasters/notesMaster1.xml" Id="R6f08892bbe15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c3c613bd84821" /><Relationship Type="http://schemas.openxmlformats.org/officeDocument/2006/relationships/notesMaster" Target="/ppt/notesMasters/notesMaster1.xml" Id="Rcead97a4db8845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c2414d2cee4cad" /><Relationship Type="http://schemas.openxmlformats.org/officeDocument/2006/relationships/notesMaster" Target="/ppt/notesMasters/notesMaster1.xml" Id="Rb64412f6051341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3c9f5522742f2" /><Relationship Type="http://schemas.openxmlformats.org/officeDocument/2006/relationships/notesMaster" Target="/ppt/notesMasters/notesMaster1.xml" Id="R992456aca354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cd8b23e164d44" /><Relationship Type="http://schemas.openxmlformats.org/officeDocument/2006/relationships/notesMaster" Target="/ppt/notesMasters/notesMaster1.xml" Id="Rcf1e2955037348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f30cde1a0d4a21" /><Relationship Type="http://schemas.openxmlformats.org/officeDocument/2006/relationships/notesMaster" Target="/ppt/notesMasters/notesMaster1.xml" Id="Rfcf8445e5bdf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f1a9571c46476d" /><Relationship Type="http://schemas.openxmlformats.org/officeDocument/2006/relationships/notesMaster" Target="/ppt/notesMasters/notesMaster1.xml" Id="R90a5b95b2fbc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b03cd7d0014d2a" /><Relationship Type="http://schemas.openxmlformats.org/officeDocument/2006/relationships/notesMaster" Target="/ppt/notesMasters/notesMaster1.xml" Id="R51dfc0d33832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e88b09e8b14a3a" /><Relationship Type="http://schemas.openxmlformats.org/officeDocument/2006/relationships/notesMaster" Target="/ppt/notesMasters/notesMaster1.xml" Id="Rf6c733678e34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87538b90bb4b6b" /><Relationship Type="http://schemas.openxmlformats.org/officeDocument/2006/relationships/notesMaster" Target="/ppt/notesMasters/notesMaster1.xml" Id="R289a8c4bd0724f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Cover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Data-quality gate is degraded because store metadata coverage is partial and timestamps are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All actions are hypotheses requiring experiments or stronger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https://www.heywhale.com/mw/dataset/5da18725037db3002d4468b3. Supplement: https://www.heywhale.com/mw/dataset/647acaea5b5b58e99a85e74f. Evidence: outputs/evidence.json and outputs/portfolio_run/claims.json.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5ef4c5efb4e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41155d7bc4941" /><Relationship Type="http://schemas.openxmlformats.org/officeDocument/2006/relationships/slideLayout" Target="/ppt/slideLayouts/slideLayout1.xml" Id="R6dd595f2f61d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595f2f61d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08513d91f436d" /><Relationship Type="http://schemas.openxmlformats.org/officeDocument/2006/relationships/notesSlide" Target="/ppt/notesSlides/notesSlide1.xml" Id="R4fcc21f1d4554b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7e35b4af74f9f" /><Relationship Type="http://schemas.openxmlformats.org/officeDocument/2006/relationships/notesSlide" Target="/ppt/notesSlides/notesSlide2.xml" Id="R3ac1a3e330b7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f343c366b4156" /><Relationship Type="http://schemas.openxmlformats.org/officeDocument/2006/relationships/notesSlide" Target="/ppt/notesSlides/notesSlide3.xml" Id="Rf456f51d9d46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982a856a44e2" /><Relationship Type="http://schemas.openxmlformats.org/officeDocument/2006/relationships/chart" Target="/ppt/slides/charts/chart1.xml" Id="Rf40f110263dd44fc" /><Relationship Type="http://schemas.openxmlformats.org/officeDocument/2006/relationships/notesSlide" Target="/ppt/notesSlides/notesSlide4.xml" Id="R2b188dc139ba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0fe27543d497a" /><Relationship Type="http://schemas.openxmlformats.org/officeDocument/2006/relationships/chart" Target="/ppt/slides/charts/chart2.xml" Id="Ra544c0b8bca24dae" /><Relationship Type="http://schemas.openxmlformats.org/officeDocument/2006/relationships/notesSlide" Target="/ppt/notesSlides/notesSlide5.xml" Id="R4844f9397c60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ff5dc3ea47d4" /><Relationship Type="http://schemas.openxmlformats.org/officeDocument/2006/relationships/chart" Target="/ppt/slides/charts/chart3.xml" Id="Reef6deec38f443a4" /><Relationship Type="http://schemas.openxmlformats.org/officeDocument/2006/relationships/notesSlide" Target="/ppt/notesSlides/notesSlide6.xml" Id="Rf3837a71da904b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8aa2843e542f8" /><Relationship Type="http://schemas.openxmlformats.org/officeDocument/2006/relationships/chart" Target="/ppt/slides/charts/chart4.xml" Id="R6373e399aa5b4ed8" /><Relationship Type="http://schemas.openxmlformats.org/officeDocument/2006/relationships/notesSlide" Target="/ppt/notesSlides/notesSlide7.xml" Id="Ra3acfc0e952d4c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b67accf5d4677" /><Relationship Type="http://schemas.openxmlformats.org/officeDocument/2006/relationships/notesSlide" Target="/ppt/notesSlides/notesSlide8.xml" Id="R00ea2b568ceb46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3523e0bbb4c2a" /><Relationship Type="http://schemas.openxmlformats.org/officeDocument/2006/relationships/notesSlide" Target="/ppt/notesSlides/notesSlide9.xml" Id="Re22de61fd641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744cd41844dc9" /><Relationship Type="http://schemas.openxmlformats.org/officeDocument/2006/relationships/notesSlide" Target="/ppt/notesSlides/notesSlide10.xml" Id="R832b72883f6d40a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静态共现率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Data'!$A$2:$A$3</c:f>
              <c:strCache>
                <c:ptCount val="2"/>
                <c:pt idx="0">
                  <c:v>全量 purchase pair</c:v>
                </c:pt>
                <c:pt idx="1">
                  <c:v>样本筛选口径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0.5472</c:v>
                </c:pt>
                <c:pt idx="1">
                  <c:v>0.5998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用户数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Data'!$A$2:$A$5</c:f>
              <c:strCache>
                <c:ptCount val="4"/>
                <c:pt idx="0">
                  <c:v>常规玩家</c:v>
                </c:pt>
                <c:pt idx="1">
                  <c:v>大库低启动</c:v>
                </c:pt>
                <c:pt idx="2">
                  <c:v>轻量用户</c:v>
                </c:pt>
                <c:pt idx="3">
                  <c:v>深度活跃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6194</c:v>
                </c:pt>
                <c:pt idx="1">
                  <c:v>3044</c:v>
                </c:pt>
                <c:pt idx="2">
                  <c:v>2225</c:v>
                </c:pt>
                <c:pt idx="3">
                  <c:v>930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7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购买 pair 份额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Data'!$A$2:$A$3</c:f>
              <c:strCache>
                <c:ptCount val="2"/>
                <c:pt idx="0">
                  <c:v>Top 10</c:v>
                </c:pt>
                <c:pt idx="1">
                  <c:v>Top 1%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0.1209</c:v>
                </c:pt>
                <c:pt idx="1">
                  <c:v>0.2693</c:v>
                </c:pt>
              </c:numCache>
            </c:numRef>
          </c:val>
        </c:ser>
        <c:ser>
          <c:idx val="1"/>
          <c:order val="1"/>
          <c:tx>
            <c:v>累计时长份额</c:v>
          </c:tx>
          <c:spPr>
            <a:solidFill xmlns:a="http://schemas.openxmlformats.org/drawingml/2006/main">
              <a:srgbClr val="27A6A1"/>
            </a:solidFill>
          </c:spPr>
          <c:cat>
            <c:strRef>
              <c:f>'Chart Data'!$C$2:$C$3</c:f>
              <c:strCache>
                <c:ptCount val="2"/>
                <c:pt idx="0">
                  <c:v>Top 10</c:v>
                </c:pt>
                <c:pt idx="1">
                  <c:v>Top 1%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0.5818</c:v>
                </c:pt>
                <c:pt idx="1">
                  <c:v>0.776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728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启动率</c:v>
          </c:tx>
          <c:spPr>
            <a:solidFill xmlns:a="http://schemas.openxmlformats.org/drawingml/2006/main">
              <a:srgbClr val="27A6A1"/>
            </a:solidFill>
          </c:spPr>
          <c:cat>
            <c:strRef>
              <c:f>'Chart Data'!$A$2:$A$7</c:f>
              <c:strCache>
                <c:ptCount val="6"/>
                <c:pt idx="0">
                  <c:v>Action</c:v>
                </c:pt>
                <c:pt idx="1">
                  <c:v>Strategy</c:v>
                </c:pt>
                <c:pt idx="2">
                  <c:v>Indie</c:v>
                </c:pt>
                <c:pt idx="3">
                  <c:v>RPG</c:v>
                </c:pt>
                <c:pt idx="4">
                  <c:v>Adventure</c:v>
                </c:pt>
                <c:pt idx="5">
                  <c:v>Simulation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0.6674</c:v>
                </c:pt>
                <c:pt idx="1">
                  <c:v>0.6635</c:v>
                </c:pt>
                <c:pt idx="2">
                  <c:v>0.6894</c:v>
                </c:pt>
                <c:pt idx="3">
                  <c:v>0.5565</c:v>
                </c:pt>
                <c:pt idx="4">
                  <c:v>0.5352</c:v>
                </c:pt>
                <c:pt idx="5">
                  <c:v>0.5751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DCB92-E1F8-4DE7-85D0-271094B2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9E0E7-76C7-452A-B4C1-88DA748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 用户行为与内容运营分析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0AD37-2E14-4501-99FF-E29FA7B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9D8E7"/>
                </a:solidFill>
                <a:latin typeface="Microsoft YaHei"/>
                <a:ea typeface="Microsoft YaHei"/>
                <a:cs typeface="Microsoft YaHei"/>
              </a:rPr>
              <a:t>从 20 万条真实行为记录到用户召回与内容推荐实验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83E1F-09A9-4116-A79C-590B6F3D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A1313-66C1-4DD0-AA45-EFD9BF55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个人数据分析项目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FEE2A-5634-4B1D-818B-2E46FEA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rPr>
              <a:t>Python · SQL · Excel · Power BI 数据模型 ·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24D39-ABE2-457E-92BF-2BD7674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rPr>
              <a:t>静态横截面分析｜结论已通过独立证据门禁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CDBD6-ADE8-4BDB-90F8-1BC18700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57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700864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95CC5-4D9F-45C4-92DB-B780F23B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业务问题与分析流程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DE224-9CEE-4FB4-8171-15609CC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E2899-6B2D-429A-BDB5-0914EA25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目标是形成可测试的运营优先级，而不是把静态关联写成因果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EFD89-7846-4C53-920D-7BA34278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2266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9D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EB40C-9CC1-4CB0-BEA5-B5ED4AA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数据收集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AED5C-FA46-4BB0-BCA3-81BD0C16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Steam 200K 行为表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Steam 商店元数据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8E5CD-BD88-4861-A07D-82A79875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40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ABB47-72D8-428F-A2DE-0295C814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62100"/>
            <a:ext cx="2266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9D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170A7-0B45-4DD7-87CB-7CBA256B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清理建模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2273A-58BE-4C81-995F-31356EF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288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去重与名称标准化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用户×游戏分析集市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1B76E-019E-433F-B447-6CFE624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40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A9E3F-0F36-48E6-9C5A-FC4C6BEA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66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9D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CFF7D-99E1-4946-949D-C8D270EC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指标与分层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BFD32-3B66-44AF-A245-E98C8517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静态共现率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用户分层与内容象限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8401B-D7DF-4E6A-BCBC-C248E93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40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03505-185A-4E68-A3FC-290001B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2266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9D5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3DB50-5B58-4152-AE5F-2795EF21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526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决策输出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8813A-EF9F-4DC5-8BD7-45CCB5E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288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召回实验候选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推荐探索池与护栏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ED402-ABAD-4C74-A924-6BC12D7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两项核心决策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41421-EE2E-4249-96C6-5426418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067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A36C8-9430-4F43-AE27-0F8AF633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用户召回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CEEB2-E930-4241-8787-A92C8F4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哪些用户应先进入个性化召回实验？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用什么指标判断是否值得持续投入？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C6EA8-0018-405C-998A-3D00C8E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5448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D3155-D0C2-444B-9B0C-659FBF8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rPr>
              <a:t>内容推荐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30E77-DB58-4730-AB3C-1334B5C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哪些内容值得获得小比例探索流量？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如何避免把极端时长误读为稳定偏好？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09519-F78D-4AC3-8C7C-BDEBA57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禁止外推：无事件时间、收入、曝光和对照组，因此不做留存、LTV、收入贡献或因果结论。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2E697-8FCD-4207-A7A0-DADBC8B9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3B573-7F51-443E-B4B7-4C265B2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Source: HeyWhale Steam datasets; analysis: Python / SQL.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3EDC6-90E3-4F40-AAE9-CDD4DC8B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1742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36F51-F350-4DB1-B2D6-25859FD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数据范围与质量门禁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853B5-21C5-456C-B861-3C83317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37CD9-153F-473C-B0CF-09ED483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行为主表完整；商店元数据只支持精确名称匹配子样本分析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F632B-AF35-4B40-A2E8-24F0FE59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12,393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CD7B8-18CA-4DFE-82E1-4B5BBE72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96D86-4A89-4CC0-B4B0-E4175E6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5,153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E899-5ABF-41CD-842D-F0261DE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游戏名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60DE3-9E03-42D7-910F-B9802DD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33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128,801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36790-15C7-474B-BC04-51113B68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47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purchase 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1C149-CDFA-48B0-9E54-1B9FAF36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33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rPr>
              <a:t>70,474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3ACBB-D02F-4877-838E-8D314B56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正时长 play 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AADB9-43B2-49BD-9305-8B4E2D14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66750" y="3028950"/>
          <a:ext xmlns:a="http://schemas.openxmlformats.org/drawingml/2006/main" cx="10572750" cy="2419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524125"/>
                <a:gridCol w="2667000"/>
                <a:gridCol w="3571875"/>
              </a:tblGrid>
              <a:tr h="4838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质量项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可读取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完全重复行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 707 条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聚合后 purchase / play 总量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无事件 ID，合法重复事件仍可能被误删</a:t>
                      </a:r>
                    </a:p>
                  </a:txBody>
                  <a:tcPr marL="76200" marR="76200" marT="47625" marB="47625" anchor="ctr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商店元数据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标准化名称精确匹配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48.466% purchase pair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不能外推到未匹配的 51.534%</a:t>
                      </a:r>
                    </a:p>
                  </a:txBody>
                  <a:tcPr marL="76200" marR="76200" marT="47625" marB="47625" anchor="ctr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可玩性口径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样本内出现过 play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运营筛选灵敏度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结果变量派生，不能代替官方 DLC 标识</a:t>
                      </a:r>
                    </a:p>
                  </a:txBody>
                  <a:tcPr marL="76200" marR="76200" marT="47625" marB="47625" anchor="ctr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时间与实验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不做伪造补齐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静态横截面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不支持趋势、留存、增量或因果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A2DC3-44B9-4362-944D-72CFBDD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DEGRADED 不阻断行为表静态事实，但限制商店类型结论与所有时序/因果解读。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A2199-5B88-445E-BEF5-A32187A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7F90C-86E8-46E4-8BFB-476527DB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Source: HeyWhale Steam datasets; analysis: Python / 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3D789-1803-430B-AC20-0FEF44E7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7017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A6D2A-FF3B-4132-B1ED-60B768E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启动口径：原始共现率 54.7%，筛选口径 60.0%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0B2B8-EFE1-42EC-8D3E-35777057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C695A-01DE-4FE5-8102-31B5FD86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47,018 个筛选后的拥有关系仍未观察到正游玩时长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6286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0f110263dd44f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018AC-2D22-46BE-A6F9-CD30F61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47,018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63A62-9EF4-429E-9116-07953E4D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样本筛选后未启动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84B35-1055-4313-91C1-86DD9697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36385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E7C99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32418-87B1-4C5B-A7E4-2702D5AE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关键边界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DA8E6-4FEB-41EE-BC6A-00BF7506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312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observed_playable 由同一份样本内是否出现 play 反向定义。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它只用于优先级筛选，不是官方可玩性分类。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21327-D814-4E3E-9911-551E92C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正确读法：这是一组值得进一步核验的运营存量，不是已确认的“购买后未启动率”。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E3454-FBDC-4184-938D-45862D8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188FA-5CD8-4F30-A233-5995BB4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Evidence E002 · static co-occurrence, not temporal conversion.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2282B-42AB-4014-AEBE-991845B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1542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A9BD2-8C21-414E-B42A-0C6EF34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用户分层：大库低启动组是实验候选，不是已验证高价值人群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8A69B-D509-4C92-BD08-D634B1CB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2833-4DA5-4046-A3B2-AAD4E161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四类分层互斥且完备，阈值来自当前样本分位数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44780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44c0b8bca24d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0BA9A-8F29-4E8D-8911-659B8BD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47800"/>
            <a:ext cx="3543300" cy="38862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F7E05-EB44-4672-8AAE-688C304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大库低启动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7FF2D-4AAE-4ECA-9F06-9355513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3,044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69424-EFAB-4BFD-ABA6-A5995CB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用户 · 占 24.6%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BB2A1-CB4E-4C53-9589-1BA42EC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55.4%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737D1-0DCD-475D-930B-79E66E0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用户级启动率简单平均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FD0A0-7CCB-4E8A-8537-FFC4360A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rPr>
              <a:t>778.8h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AAFAE-BA0D-4B9C-88FB-3E6D591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平均累计游玩时长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FEDBD-3C34-4232-A076-C364DE8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分层变量包含启动率与库规模，画像不能反过来证明低启动机制。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43676-B352-4BD4-90EC-EABCEC5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855A9-F018-4856-AD3C-C441076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Evidence E004 · sample-quantile segmentation.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B1516-BC4F-4EE3-B732-75EEF61C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982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D1B78-7742-41CB-903D-0FECF7A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内容集中：时长向头部聚集，但幅度对极端值敏感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0095A-1DC0-459A-ADE0-03E06E4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C9A9B-DFE8-4738-9C26-2FFA4F7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购买规模与累计时长呈现不同的头部集中程度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f6deec38f443a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D37D5-B068-4DB0-A250-D8BCF416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敏感性提醒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82E37-6EA6-46AC-9F39-55C13F0B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8E7"/>
          </a:solidFill>
          <a:ln xmlns:a="http://schemas.openxmlformats.org/drawingml/2006/main" w="9525">
            <a:solidFill>
              <a:srgbClr val="E9B7B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3921-25FE-47BA-B619-8AAD2D4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876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正时长 pair 中位数仅 4.5 小时，P99 为 908 小时，最大值 11,754 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未截尾集中度只作为分布描述，不能写成稳定效应量。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B6421-BDE4-418F-A19E-33C1A65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“时长集中”与“未启动存量”是并列诊断信号；没有时间、曝光或对照，不能连成因果链。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07CF-5AA6-4C7B-9BAB-8D3B4568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0A3D2-0FC9-4B79-8DED-376683D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Evidence E003 · untrimmed cumulative play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99C3B-72F1-4B62-ADE2-DE1FCF2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9650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0BE12-0696-4B14-B778-860B231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类型结构：Action 结论只适用于精确匹配子样本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5CA3-BD10-4E9D-A8F7-8079364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0143A-B8B5-412E-A12C-F370629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匹配覆盖不足且主类型只取 genres 第一项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73e399aa5b4ed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6A585-3367-47FD-AC18-DCF7B5E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5455F-4AF8-4D4F-9F49-C629D90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匹配覆盖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BC23-FBFE-4296-BFD8-FD9FEC0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48.466%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D67A-D4B2-4857-983E-A8EE8C8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purchase 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15437-5DE4-4CA1-AF97-4E16D64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46.284%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4B686-3673-4C12-974E-144D6AF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游戏名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9ACC0-BBEC-427A-9170-A981E6CD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Action：启动率 66.739%</a:t>
            </a:r>
          </a:p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匹配子样本时长份额 84.438%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1606C-28C0-47AA-BD4D-E370A5B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下一步应使用稳定 appid 连接全量元数据，并保留多标签结构。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90006-7C8C-445B-900C-39534774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9D99-77D1-4FCD-B04C-5CF829F0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Evidence E005-E006 · exact-name-matched subset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00FC1-D716-4EA1-8DFF-E7E118A8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2502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A5B2E-B5AB-4564-AB8B-1B8AD1D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业务动作与验证设计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37457-03A6-4A39-B8B5-40EBD4A6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6E58F-1233-4687-8FEC-C91EC036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每条动作都绑定对象、指标与停止条件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90550" y="1371600"/>
          <a:ext xmlns:a="http://schemas.openxmlformats.org/drawingml/2006/main" cx="110109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95375"/>
                <a:gridCol w="2381250"/>
                <a:gridCol w="2952750"/>
                <a:gridCol w="2286000"/>
                <a:gridCol w="2295525"/>
              </a:tblGrid>
              <a:tr h="819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76200" marR="7620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76200" marR="7620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76200" marR="7620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 marL="76200" marR="7620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 / 停止条件</a:t>
                      </a:r>
                    </a:p>
                  </a:txBody>
                  <a:tcPr marL="76200" marR="76200" marT="57150" marB="57150" anchor="ctr">
                    <a:solidFill>
                      <a:srgbClr val="17324D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76200" marR="76200" marT="57150" marB="57150" anchor="ctr">
                    <a:solidFill>
                      <a:srgbClr val="FD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大库低启动用户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随机分流个性化召回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基于已拥有未启动内容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天首次启动率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天游玩时长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无显著增量或打扰率上升则停止</a:t>
                      </a:r>
                    </a:p>
                  </a:txBody>
                  <a:tcPr marL="76200" marR="76200" marT="57150" marB="57150" anchor="ctr"/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76200" marR="76200" marT="57150" marB="57150" anchor="ctr">
                    <a:solidFill>
                      <a:srgbClr val="E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低规模高激活内容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配置小比例探索流量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逐步扩量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每千曝光增量启动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覆盖游戏数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护栏：头部内容时长不显著下降</a:t>
                      </a:r>
                    </a:p>
                  </a:txBody>
                  <a:tcPr marL="76200" marR="76200" marT="57150" marB="57150" anchor="ctr"/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76200" marR="76200" marT="57150" marB="57150" anchor="ctr">
                    <a:solidFill>
                      <a:srgbClr val="FF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高规模低激活内容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 DLC/工具属性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优化商店页与新手引导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可玩性标注覆盖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启动漏斗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先补官方内容类型再解释</a:t>
                      </a:r>
                    </a:p>
                  </a:txBody>
                  <a:tcPr marL="76200" marR="76200" marT="57150" marB="57150" anchor="ctr"/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</a:t>
                      </a:r>
                    </a:p>
                  </a:txBody>
                  <a:tcPr marL="76200" marR="76200" marT="57150" marB="57150" anchor="ctr">
                    <a:solidFill>
                      <a:srgbClr val="FF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数据产品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appid 与内容字典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补齐曝光/触达/会话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元数据覆盖率</a:t>
                      </a:r>
                    </a:p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可追溯字段完整率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覆盖率达标后重跑分层与类型结论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CDF6D-2EC2-4DE7-8E59-605A1D0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优先先补可识别数据，再用实验判断动作是否产生增量；静态分层本身不等于策略效果。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98A9D-82E4-4965-971C-09A62759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18673-A9AA-4F0A-B682-745B3BBC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Source: HeyWhale Steam datasets; analysis: Python / 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9AF75-E098-47C0-BD73-98E4184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7890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A3121-A5A1-409A-B91F-6239F48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项目实现与可复现交付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C9336-7656-46D1-9E00-C344BC7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26E01-E30B-4E72-9C7E-6FCD838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2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同一套指标由 Python、SQLite、Excel 与 Power BI 口径共同消费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4B5DB-BC27-4713-8C37-FB8CDC2C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24193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A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A8D9-48E6-43D2-A2B5-EFDAF8B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3BCD4-88B1-49BB-9A12-890EF43F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pandas / numpy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清洗、聚合、分层、图表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3FCB-5203-46FE-B445-E3EA7063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4193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1F4F2"/>
          </a:solidFill>
          <a:ln xmlns:a="http://schemas.openxmlformats.org/drawingml/2006/main" w="9525">
            <a:solidFill>
              <a:srgbClr val="CA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AA06-52D9-4D6A-A534-A1A34D7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rPr>
              <a:t>SQL / 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B2D0B-58A7-4A70-AD14-24A6741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CTE / 窗口函数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指标复核与内容机会查询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A46E3-1B42-4A8B-861F-80428467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24193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A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85EA0-F93B-4E3F-9575-A2C6EF7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2C061-5180-470B-A458-5EE418E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 张工作表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经营总览、明细、口径字典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7D20D-7F92-48EC-982B-16C7E56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24000"/>
            <a:ext cx="24193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DE8E7"/>
          </a:solidFill>
          <a:ln xmlns:a="http://schemas.openxmlformats.org/drawingml/2006/main" w="9525">
            <a:solidFill>
              <a:srgbClr val="CA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33586-4D71-41C9-9182-261CC848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Power BI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BCBBF-AE83-4D8B-9112-E04DB7B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星型模型说明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DAX 指标与页面搭建指南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FA6DD-776E-43A4-B54C-F9D0EE1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关键交付物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0D719-334B-49D7-B920-E77466B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3A797-ED06-44F3-B354-9A500511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analysis_pipeline.py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0C0B5-51CF-439D-A9A0-086A2D9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481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8F06A-1BC1-4709-8A53-D9F2346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76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analysis_queries.sql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CC6E4-D29D-4F3F-9115-4DB5103B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2FE1F-9C58-43FE-AAE8-614A52FA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steam_analysis.db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1C565-4588-46AA-81E8-D2A48A7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053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E4DF2-01EF-44E8-AD01-C7492C46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33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Steam用户行为分析看板.xlsx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5344E-3771-4175-9861-BE4672B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65424-096A-4C2C-B053-5DD2352A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Steam用户行为与内容运营分析报告.html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0DB92-1F34-4701-8A3A-8C23B49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1625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40495-F4C2-443F-924B-D4FCAA9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91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Power BI 构建指南 + DAX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30723F-88D4-4078-88D3-06018D9F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436A6-DE3C-4B28-8A3A-1386F1A9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本汇报 PPT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5B141-F0C7-4D09-80D9-2243A8CA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619750"/>
            <a:ext cx="5095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2F893-BA88-4C1D-8D2F-482F7E9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648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简历项目表述与面试话术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81536B-1D77-4B4B-BED1-36C6E51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06CD4B-1231-401F-9FEE-42A51B2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Source: HeyWhale Steam datasets; analysis: Python / SQL.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D30ADD-EACD-4DE8-B450-07D558B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72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60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8A9C-BD2C-4C73-BF02-222089DC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C23D-C66B-45E3-A7AC-19E78C45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32B6C-225C-48A5-AE42-DF69CB5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62922-F38E-4F5A-9EC0-5217FB4A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真实公开数据收集与哈希留档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Python 清洗、指标与用户分层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SQL 复核、SQLite 分析库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Excel 看板与 Power BI 建模说明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独立证据门禁与可审计 HTML 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10ECD-B4F9-458B-A434-D4C4C42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A4738-E980-47BB-BE32-BA678C4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补稳定 appid 与官方内容类型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补购买、首次启动与观测窗口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补曝光、触达、会话和随机对照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按 MDE 设计召回与探索流量实验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7FFF2-A962-465A-8D80-BE8B4D5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58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545FC-020B-41E7-8460-5DBAC436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A6A1"/>
                </a:solidFill>
                <a:latin typeface="Microsoft YaHei"/>
                <a:ea typeface="Microsoft YaHei"/>
                <a:cs typeface="Microsoft YaHei"/>
              </a:rPr>
              <a:t>简历定位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566A6-66C4-4C76-B65A-5F0B2B8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强调“端到端分析、口径治理与实验设计”，不把静态关联包装成已实现增长。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B8B08-31A7-4844-99B6-BF49865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101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2026-09-22T10:15:30.8640000Z</dcterms:created>
  <dcterms:modified xsi:type="dcterms:W3CDTF">2026-09-22T10:15:30.8640000Z</dcterms:modified>
</coreProperties>
</file>