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218bd2c714599" /><Relationship Type="http://schemas.openxmlformats.org/officeDocument/2006/relationships/extended-properties" Target="/docProps/app.xml" Id="R072ef47a35a443e7" /><Relationship Type="http://schemas.openxmlformats.org/officeDocument/2006/relationships/officeDocument" Target="/ppt/presentation.xml" Id="Rc7c85baf7684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e644303164a99"/>
  </p:sldMasterIdLst>
  <p:notesMasterIdLst>
    <p:notesMasterId xmlns:r="http://schemas.openxmlformats.org/officeDocument/2006/relationships" r:id="R82daf8a336d4441d"/>
  </p:notesMasterIdLst>
  <p:sldIdLst>
    <p:sldId xmlns:r="http://schemas.openxmlformats.org/officeDocument/2006/relationships" id="256" r:id="Rcd8e6e8831e84bb7"/>
    <p:sldId xmlns:r="http://schemas.openxmlformats.org/officeDocument/2006/relationships" id="257" r:id="Rc9f1175aaa8445cb"/>
    <p:sldId xmlns:r="http://schemas.openxmlformats.org/officeDocument/2006/relationships" id="258" r:id="R9d423aa01e234fa2"/>
    <p:sldId xmlns:r="http://schemas.openxmlformats.org/officeDocument/2006/relationships" id="259" r:id="Rf15396b592f64ca3"/>
    <p:sldId xmlns:r="http://schemas.openxmlformats.org/officeDocument/2006/relationships" id="260" r:id="R07d83eb6fff54e6b"/>
    <p:sldId xmlns:r="http://schemas.openxmlformats.org/officeDocument/2006/relationships" id="261" r:id="R655f929edf2c48c5"/>
    <p:sldId xmlns:r="http://schemas.openxmlformats.org/officeDocument/2006/relationships" id="262" r:id="R7b84992d374841f4"/>
    <p:sldId xmlns:r="http://schemas.openxmlformats.org/officeDocument/2006/relationships" id="263" r:id="Rb557a2e90fca4a00"/>
    <p:sldId xmlns:r="http://schemas.openxmlformats.org/officeDocument/2006/relationships" id="264" r:id="Re480ff16809c4ff3"/>
    <p:sldId xmlns:r="http://schemas.openxmlformats.org/officeDocument/2006/relationships" id="265" r:id="R4e9db4aa94a74727"/>
    <p:sldId xmlns:r="http://schemas.openxmlformats.org/officeDocument/2006/relationships" id="266" r:id="R5e3b184ff15f4fe8"/>
    <p:sldId xmlns:r="http://schemas.openxmlformats.org/officeDocument/2006/relationships" id="267" r:id="R1c5b9bd904644d60"/>
    <p:sldId xmlns:r="http://schemas.openxmlformats.org/officeDocument/2006/relationships" id="268" r:id="Rf4b5f1f47b5c494e"/>
    <p:sldId xmlns:r="http://schemas.openxmlformats.org/officeDocument/2006/relationships" id="269" r:id="R7cf8fd81309a446e"/>
    <p:sldId xmlns:r="http://schemas.openxmlformats.org/officeDocument/2006/relationships" id="270" r:id="R08679643f18847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e2da2549046f0" /><Relationship Type="http://schemas.openxmlformats.org/officeDocument/2006/relationships/slideMaster" Target="/ppt/slideMasters/slideMaster1.xml" Id="Rb45e644303164a99" /><Relationship Type="http://schemas.openxmlformats.org/officeDocument/2006/relationships/notesMaster" Target="/ppt/notesMasters/notesMaster1.xml" Id="R82daf8a336d4441d" /><Relationship Type="http://schemas.openxmlformats.org/officeDocument/2006/relationships/presProps" Target="/ppt/presProps.xml" Id="R7d09bf00b3794e94" /><Relationship Type="http://schemas.openxmlformats.org/officeDocument/2006/relationships/tableStyles" Target="/ppt/tableStyles.xml" Id="R0b187571f7cf4c39" /><Relationship Type="http://schemas.openxmlformats.org/officeDocument/2006/relationships/slide" Target="/ppt/slides/slide1.xml" Id="Rcd8e6e8831e84bb7" /><Relationship Type="http://schemas.openxmlformats.org/officeDocument/2006/relationships/slide" Target="/ppt/slides/slide2.xml" Id="Rc9f1175aaa8445cb" /><Relationship Type="http://schemas.openxmlformats.org/officeDocument/2006/relationships/slide" Target="/ppt/slides/slide3.xml" Id="R9d423aa01e234fa2" /><Relationship Type="http://schemas.openxmlformats.org/officeDocument/2006/relationships/slide" Target="/ppt/slides/slide4.xml" Id="Rf15396b592f64ca3" /><Relationship Type="http://schemas.openxmlformats.org/officeDocument/2006/relationships/slide" Target="/ppt/slides/slide5.xml" Id="R07d83eb6fff54e6b" /><Relationship Type="http://schemas.openxmlformats.org/officeDocument/2006/relationships/slide" Target="/ppt/slides/slide6.xml" Id="R655f929edf2c48c5" /><Relationship Type="http://schemas.openxmlformats.org/officeDocument/2006/relationships/slide" Target="/ppt/slides/slide7.xml" Id="R7b84992d374841f4" /><Relationship Type="http://schemas.openxmlformats.org/officeDocument/2006/relationships/slide" Target="/ppt/slides/slide8.xml" Id="Rb557a2e90fca4a00" /><Relationship Type="http://schemas.openxmlformats.org/officeDocument/2006/relationships/slide" Target="/ppt/slides/slide9.xml" Id="Re480ff16809c4ff3" /><Relationship Type="http://schemas.openxmlformats.org/officeDocument/2006/relationships/slide" Target="/ppt/slides/slide10.xml" Id="R4e9db4aa94a74727" /><Relationship Type="http://schemas.openxmlformats.org/officeDocument/2006/relationships/slide" Target="/ppt/slides/slide11.xml" Id="R5e3b184ff15f4fe8" /><Relationship Type="http://schemas.openxmlformats.org/officeDocument/2006/relationships/slide" Target="/ppt/slides/slide12.xml" Id="R1c5b9bd904644d60" /><Relationship Type="http://schemas.openxmlformats.org/officeDocument/2006/relationships/slide" Target="/ppt/slides/slide13.xml" Id="Rf4b5f1f47b5c494e" /><Relationship Type="http://schemas.openxmlformats.org/officeDocument/2006/relationships/slide" Target="/ppt/slides/slide14.xml" Id="R7cf8fd81309a446e" /><Relationship Type="http://schemas.openxmlformats.org/officeDocument/2006/relationships/slide" Target="/ppt/slides/slide15.xml" Id="R08679643f18847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637d20a01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7c181a3d1b445a" /><Relationship Type="http://schemas.openxmlformats.org/officeDocument/2006/relationships/notesMaster" Target="/ppt/notesMasters/notesMaster1.xml" Id="Rdfcf2872e313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bb08f8d3649d5" /><Relationship Type="http://schemas.openxmlformats.org/officeDocument/2006/relationships/notesMaster" Target="/ppt/notesMasters/notesMaster1.xml" Id="Ra5f9e9c120ef41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cc002d68f49b3" /><Relationship Type="http://schemas.openxmlformats.org/officeDocument/2006/relationships/notesMaster" Target="/ppt/notesMasters/notesMaster1.xml" Id="R836548662283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b9cb731f174639" /><Relationship Type="http://schemas.openxmlformats.org/officeDocument/2006/relationships/notesMaster" Target="/ppt/notesMasters/notesMaster1.xml" Id="R76dbd6332dda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e7bac6afc349d1" /><Relationship Type="http://schemas.openxmlformats.org/officeDocument/2006/relationships/notesMaster" Target="/ppt/notesMasters/notesMaster1.xml" Id="Rf9c1b5c0e50049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0c619d3494ffa" /><Relationship Type="http://schemas.openxmlformats.org/officeDocument/2006/relationships/notesMaster" Target="/ppt/notesMasters/notesMaster1.xml" Id="Rb37cfbdef62f42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04a9ddfea4a6d" /><Relationship Type="http://schemas.openxmlformats.org/officeDocument/2006/relationships/notesMaster" Target="/ppt/notesMasters/notesMaster1.xml" Id="R71fc5262197748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3b764524e4b4d" /><Relationship Type="http://schemas.openxmlformats.org/officeDocument/2006/relationships/notesMaster" Target="/ppt/notesMasters/notesMaster1.xml" Id="R5151bbfd9d024a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3f688de24a4c05" /><Relationship Type="http://schemas.openxmlformats.org/officeDocument/2006/relationships/notesMaster" Target="/ppt/notesMasters/notesMaster1.xml" Id="R3ac3624e06da46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223724b67a44a5" /><Relationship Type="http://schemas.openxmlformats.org/officeDocument/2006/relationships/notesMaster" Target="/ppt/notesMasters/notesMaster1.xml" Id="R0fa6ab480fab47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66ed35fc1145d4" /><Relationship Type="http://schemas.openxmlformats.org/officeDocument/2006/relationships/notesMaster" Target="/ppt/notesMasters/notesMaster1.xml" Id="Rd0d7a1016f7445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b14ce153694c20" /><Relationship Type="http://schemas.openxmlformats.org/officeDocument/2006/relationships/notesMaster" Target="/ppt/notesMasters/notesMaster1.xml" Id="R4daed7c2b8f14f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1b4e2e36c84f08" /><Relationship Type="http://schemas.openxmlformats.org/officeDocument/2006/relationships/notesMaster" Target="/ppt/notesMasters/notesMaster1.xml" Id="Re753c3a880c448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f30d0ec8104ab4" /><Relationship Type="http://schemas.openxmlformats.org/officeDocument/2006/relationships/notesMaster" Target="/ppt/notesMasters/notesMaster1.xml" Id="Rb05fc8e421e840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5789c52b02412d" /><Relationship Type="http://schemas.openxmlformats.org/officeDocument/2006/relationships/notesMaster" Target="/ppt/notesMasters/notesMaster1.xml" Id="Rc3c2530f82cc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Cover.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Reviewer status: degraded.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Actions are hypotheses, not measured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https://github.com/olist/work-at-olist-data. Evidence: outputs/evidence.json. GMV excludes freight and is not accounting revenue.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1b094fad946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1dfe3819e4b3f" /><Relationship Type="http://schemas.openxmlformats.org/officeDocument/2006/relationships/slideLayout" Target="/ppt/slideLayouts/slideLayout1.xml" Id="R84b0a8031985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0a8031985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a0d26b7f4b2e" /><Relationship Type="http://schemas.openxmlformats.org/officeDocument/2006/relationships/notesSlide" Target="/ppt/notesSlides/notesSlide1.xml" Id="Rb6ea49e4ca1246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1f2f365fe4ce0" /><Relationship Type="http://schemas.openxmlformats.org/officeDocument/2006/relationships/notesSlide" Target="/ppt/notesSlides/notesSlide2.xml" Id="Ra0eb4ba3370849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e2a967f2747b5" /><Relationship Type="http://schemas.openxmlformats.org/officeDocument/2006/relationships/notesSlide" Target="/ppt/notesSlides/notesSlide3.xml" Id="R14144c69fe0e49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7fd0f0f6c4a9c" /><Relationship Type="http://schemas.openxmlformats.org/officeDocument/2006/relationships/notesSlide" Target="/ppt/notesSlides/notesSlide4.xml" Id="Re7af64b4c2d8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35b12baa4d0e" /><Relationship Type="http://schemas.openxmlformats.org/officeDocument/2006/relationships/chart" Target="/ppt/slides/charts/chart1.xml" Id="Re86b0a71d14a4fcb" /><Relationship Type="http://schemas.openxmlformats.org/officeDocument/2006/relationships/chart" Target="/ppt/slides/charts/chart2.xml" Id="R0caa7e37b250427a" /><Relationship Type="http://schemas.openxmlformats.org/officeDocument/2006/relationships/chart" Target="/ppt/slides/charts/chart3.xml" Id="R7cc3cb828f84437b" /><Relationship Type="http://schemas.openxmlformats.org/officeDocument/2006/relationships/notesSlide" Target="/ppt/notesSlides/notesSlide5.xml" Id="R63a5df82720e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9ddaa5c9b48e0" /><Relationship Type="http://schemas.openxmlformats.org/officeDocument/2006/relationships/chart" Target="/ppt/slides/charts/chart4.xml" Id="R6857c15225ed444e" /><Relationship Type="http://schemas.openxmlformats.org/officeDocument/2006/relationships/chart" Target="/ppt/slides/charts/chart5.xml" Id="R9e461ee9255541ff" /><Relationship Type="http://schemas.openxmlformats.org/officeDocument/2006/relationships/notesSlide" Target="/ppt/notesSlides/notesSlide6.xml" Id="Rd97ef8e897854b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2b86f4cad4fba" /><Relationship Type="http://schemas.openxmlformats.org/officeDocument/2006/relationships/chart" Target="/ppt/slides/charts/chart6.xml" Id="Rca7acbd54ee04e72" /><Relationship Type="http://schemas.openxmlformats.org/officeDocument/2006/relationships/chart" Target="/ppt/slides/charts/chart7.xml" Id="R30b04cb140764223" /><Relationship Type="http://schemas.openxmlformats.org/officeDocument/2006/relationships/notesSlide" Target="/ppt/notesSlides/notesSlide7.xml" Id="Rc9d5ff0d8b0043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d2f918ea45cd" /><Relationship Type="http://schemas.openxmlformats.org/officeDocument/2006/relationships/chart" Target="/ppt/slides/charts/chart8.xml" Id="Rb50be6257b0346a3" /><Relationship Type="http://schemas.openxmlformats.org/officeDocument/2006/relationships/chart" Target="/ppt/slides/charts/chart9.xml" Id="Rbeb701e151a54337" /><Relationship Type="http://schemas.openxmlformats.org/officeDocument/2006/relationships/notesSlide" Target="/ppt/notesSlides/notesSlide8.xml" Id="Rbf5485c21fbf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c322962b4ade" /><Relationship Type="http://schemas.openxmlformats.org/officeDocument/2006/relationships/chart" Target="/ppt/slides/charts/chart10.xml" Id="R13b7aecb8dcc4023" /><Relationship Type="http://schemas.openxmlformats.org/officeDocument/2006/relationships/chart" Target="/ppt/slides/charts/chart11.xml" Id="R6991d1d001e24829" /><Relationship Type="http://schemas.openxmlformats.org/officeDocument/2006/relationships/notesSlide" Target="/ppt/notesSlides/notesSlide9.xml" Id="R27209988d0ff4d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f95097a74152" /><Relationship Type="http://schemas.openxmlformats.org/officeDocument/2006/relationships/chart" Target="/ppt/slides/charts/chart12.xml" Id="R364576d909f54e5f" /><Relationship Type="http://schemas.openxmlformats.org/officeDocument/2006/relationships/chart" Target="/ppt/slides/charts/chart13.xml" Id="R4d4cf66154bd4012" /><Relationship Type="http://schemas.openxmlformats.org/officeDocument/2006/relationships/notesSlide" Target="/ppt/notesSlides/notesSlide10.xml" Id="R7d192357e98045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ea358878941f5" /><Relationship Type="http://schemas.openxmlformats.org/officeDocument/2006/relationships/chart" Target="/ppt/slides/charts/chart14.xml" Id="Rb39201e61f48487b" /><Relationship Type="http://schemas.openxmlformats.org/officeDocument/2006/relationships/chart" Target="/ppt/slides/charts/chart15.xml" Id="R14b8308a773f4c47" /><Relationship Type="http://schemas.openxmlformats.org/officeDocument/2006/relationships/notesSlide" Target="/ppt/notesSlides/notesSlide11.xml" Id="R2cfb2425a18b48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d0a58ad14251" /><Relationship Type="http://schemas.openxmlformats.org/officeDocument/2006/relationships/chart" Target="/ppt/slides/charts/chart16.xml" Id="Rf7e349ec92e447ee" /><Relationship Type="http://schemas.openxmlformats.org/officeDocument/2006/relationships/chart" Target="/ppt/slides/charts/chart17.xml" Id="R3d879819fbab41e6" /><Relationship Type="http://schemas.openxmlformats.org/officeDocument/2006/relationships/notesSlide" Target="/ppt/notesSlides/notesSlide12.xml" Id="Rdc1bb1c2a7f141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6cc9db666495f" /><Relationship Type="http://schemas.openxmlformats.org/officeDocument/2006/relationships/chart" Target="/ppt/slides/charts/chart18.xml" Id="R3d8653a06b704c6a" /><Relationship Type="http://schemas.openxmlformats.org/officeDocument/2006/relationships/chart" Target="/ppt/slides/charts/chart19.xml" Id="R6c28de464d454779" /><Relationship Type="http://schemas.openxmlformats.org/officeDocument/2006/relationships/notesSlide" Target="/ppt/notesSlides/notesSlide13.xml" Id="R41f96c1341c542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85a7b1efe41c2" /><Relationship Type="http://schemas.openxmlformats.org/officeDocument/2006/relationships/notesSlide" Target="/ppt/notesSlides/notesSlide14.xml" Id="R42e50817c27847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bffe107a64443" /><Relationship Type="http://schemas.openxmlformats.org/officeDocument/2006/relationships/notesSlide" Target="/ppt/notesSlides/notesSlide15.xml" Id="R5c46f1a9db2a48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月度 GMV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GMV</c:v>
          </c:tx>
          <c:spPr>
            <a:solidFill xmlns:a="http://schemas.openxmlformats.org/drawingml/2006/main">
              <a:srgbClr val="2F6BFF"/>
            </a:solidFill>
          </c:spPr>
          <c:marker>
            <c:symbol val="none"/>
          </c:marker>
          <c:cat>
            <c:strRef>
              <c:f>'Chart Data'!$A$2:$A$21</c:f>
              <c:strCache>
                <c:ptCount val="20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</c:strCache>
            </c:strRef>
          </c:cat>
          <c:val>
            <c:numRef>
              <c:f>'Chart Data'!$B$2:$B$21</c:f>
              <c:numCache>
                <c:formatCode>R$ #,##0</c:formatCode>
                <c:ptCount val="20"/>
                <c:pt idx="0">
                  <c:v>111798.36</c:v>
                </c:pt>
                <c:pt idx="1">
                  <c:v>234223.4</c:v>
                </c:pt>
                <c:pt idx="2">
                  <c:v>359198.85</c:v>
                </c:pt>
                <c:pt idx="3">
                  <c:v>340669.68</c:v>
                </c:pt>
                <c:pt idx="4">
                  <c:v>489338.25</c:v>
                </c:pt>
                <c:pt idx="5">
                  <c:v>421923.37</c:v>
                </c:pt>
                <c:pt idx="6">
                  <c:v>481604.52</c:v>
                </c:pt>
                <c:pt idx="7">
                  <c:v>554699.7</c:v>
                </c:pt>
                <c:pt idx="8">
                  <c:v>607399.67</c:v>
                </c:pt>
                <c:pt idx="9">
                  <c:v>648247.65</c:v>
                </c:pt>
                <c:pt idx="10">
                  <c:v>987765.37</c:v>
                </c:pt>
                <c:pt idx="11">
                  <c:v>726033.19</c:v>
                </c:pt>
                <c:pt idx="12">
                  <c:v>924645</c:v>
                </c:pt>
                <c:pt idx="13">
                  <c:v>826437.13</c:v>
                </c:pt>
                <c:pt idx="14">
                  <c:v>953356.25</c:v>
                </c:pt>
                <c:pt idx="15">
                  <c:v>973534.09</c:v>
                </c:pt>
                <c:pt idx="16">
                  <c:v>977544.69</c:v>
                </c:pt>
                <c:pt idx="17">
                  <c:v>856077.86</c:v>
                </c:pt>
                <c:pt idx="18">
                  <c:v>867953.46</c:v>
                </c:pt>
                <c:pt idx="19">
                  <c:v>838576.64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月度订单量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订单</c:v>
          </c:tx>
          <c:spPr>
            <a:solidFill xmlns:a="http://schemas.openxmlformats.org/drawingml/2006/main">
              <a:srgbClr val="22A39A"/>
            </a:solidFill>
          </c:spPr>
          <c:cat>
            <c:strRef>
              <c:f>'Chart Data'!$A$2:$A$21</c:f>
              <c:strCache>
                <c:ptCount val="20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</c:strCache>
            </c:strRef>
          </c:cat>
          <c:val>
            <c:numRef>
              <c:f>'Chart Data'!$B$2:$B$21</c:f>
              <c:numCache>
                <c:formatCode>#,##0</c:formatCode>
                <c:ptCount val="20"/>
                <c:pt idx="0">
                  <c:v>750</c:v>
                </c:pt>
                <c:pt idx="1">
                  <c:v>1653</c:v>
                </c:pt>
                <c:pt idx="2">
                  <c:v>2546</c:v>
                </c:pt>
                <c:pt idx="3">
                  <c:v>2303</c:v>
                </c:pt>
                <c:pt idx="4">
                  <c:v>3546</c:v>
                </c:pt>
                <c:pt idx="5">
                  <c:v>3135</c:v>
                </c:pt>
                <c:pt idx="6">
                  <c:v>3872</c:v>
                </c:pt>
                <c:pt idx="7">
                  <c:v>4193</c:v>
                </c:pt>
                <c:pt idx="8">
                  <c:v>4150</c:v>
                </c:pt>
                <c:pt idx="9">
                  <c:v>4478</c:v>
                </c:pt>
                <c:pt idx="10">
                  <c:v>7289</c:v>
                </c:pt>
                <c:pt idx="11">
                  <c:v>5513</c:v>
                </c:pt>
                <c:pt idx="12">
                  <c:v>7069</c:v>
                </c:pt>
                <c:pt idx="13">
                  <c:v>6555</c:v>
                </c:pt>
                <c:pt idx="14">
                  <c:v>7003</c:v>
                </c:pt>
                <c:pt idx="15">
                  <c:v>6798</c:v>
                </c:pt>
                <c:pt idx="16">
                  <c:v>6749</c:v>
                </c:pt>
                <c:pt idx="17">
                  <c:v>6099</c:v>
                </c:pt>
                <c:pt idx="18">
                  <c:v>6159</c:v>
                </c:pt>
                <c:pt idx="19">
                  <c:v>6351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月度 AOV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AOV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strRef>
              <c:f>'Chart Data'!$A$2:$A$21</c:f>
              <c:strCache>
                <c:ptCount val="20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</c:strCache>
            </c:strRef>
          </c:cat>
          <c:val>
            <c:numRef>
              <c:f>'Chart Data'!$B$2:$B$21</c:f>
              <c:numCache>
                <c:formatCode>R$ #,##0</c:formatCode>
                <c:ptCount val="20"/>
                <c:pt idx="0">
                  <c:v>149.06448</c:v>
                </c:pt>
                <c:pt idx="1">
                  <c:v>141.695947</c:v>
                </c:pt>
                <c:pt idx="2">
                  <c:v>141.083602</c:v>
                </c:pt>
                <c:pt idx="3">
                  <c:v>147.924307</c:v>
                </c:pt>
                <c:pt idx="4">
                  <c:v>137.99725</c:v>
                </c:pt>
                <c:pt idx="5">
                  <c:v>134.584807</c:v>
                </c:pt>
                <c:pt idx="6">
                  <c:v>124.381333</c:v>
                </c:pt>
                <c:pt idx="7">
                  <c:v>132.291844</c:v>
                </c:pt>
                <c:pt idx="8">
                  <c:v>146.361366</c:v>
                </c:pt>
                <c:pt idx="9">
                  <c:v>144.762762</c:v>
                </c:pt>
                <c:pt idx="10">
                  <c:v>135.514525</c:v>
                </c:pt>
                <c:pt idx="11">
                  <c:v>131.694756</c:v>
                </c:pt>
                <c:pt idx="12">
                  <c:v>130.802801</c:v>
                </c:pt>
                <c:pt idx="13">
                  <c:v>126.077365</c:v>
                </c:pt>
                <c:pt idx="14">
                  <c:v>136.135406</c:v>
                </c:pt>
                <c:pt idx="15">
                  <c:v>143.208898</c:v>
                </c:pt>
                <c:pt idx="16">
                  <c:v>144.842894</c:v>
                </c:pt>
                <c:pt idx="17">
                  <c:v>140.363643</c:v>
                </c:pt>
                <c:pt idx="18">
                  <c:v>140.924413</c:v>
                </c:pt>
                <c:pt idx="19">
                  <c:v>132.03852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按主支付方式的交易支付金额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交易支付金额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Data'!$A$2:$A$5</c:f>
              <c:strCache>
                <c:ptCount val="4"/>
                <c:pt idx="0">
                  <c:v>credit_card</c:v>
                </c:pt>
                <c:pt idx="1">
                  <c:v>boleto</c:v>
                </c:pt>
                <c:pt idx="2">
                  <c:v>voucher</c:v>
                </c:pt>
                <c:pt idx="3">
                  <c:v>debit_card</c:v>
                </c:pt>
              </c:strCache>
            </c:strRef>
          </c:cat>
          <c:val>
            <c:numRef>
              <c:f>'Chart Data'!$B$2:$B$5</c:f>
              <c:numCache>
                <c:formatCode>R$ #,##0</c:formatCode>
                <c:ptCount val="4"/>
                <c:pt idx="0">
                  <c:v>12064298.86</c:v>
                </c:pt>
                <c:pt idx="1">
                  <c:v>2762300.8</c:v>
                </c:pt>
                <c:pt idx="2">
                  <c:v>341146.39</c:v>
                </c:pt>
                <c:pt idx="3">
                  <c:v>208129.39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支付金额份额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支付金额份额</c:v>
          </c:tx>
          <c:spPr>
            <a:solidFill xmlns:a="http://schemas.openxmlformats.org/drawingml/2006/main">
              <a:srgbClr val="22A39A"/>
            </a:solidFill>
          </c:spPr>
          <c:cat>
            <c:strRef>
              <c:f>'Chart Data'!$A$2:$A$5</c:f>
              <c:strCache>
                <c:ptCount val="4"/>
                <c:pt idx="0">
                  <c:v>credit_card</c:v>
                </c:pt>
                <c:pt idx="1">
                  <c:v>boleto</c:v>
                </c:pt>
                <c:pt idx="2">
                  <c:v>voucher</c:v>
                </c:pt>
                <c:pt idx="3">
                  <c:v>debit_card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0.784625</c:v>
                </c:pt>
                <c:pt idx="1">
                  <c:v>0.179652</c:v>
                </c:pt>
                <c:pt idx="2">
                  <c:v>0.022187</c:v>
                </c:pt>
                <c:pt idx="3">
                  <c:v>0.013536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信用卡分期区间订单量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订单数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2-3</c:v>
                </c:pt>
                <c:pt idx="2">
                  <c:v>4-5</c:v>
                </c:pt>
                <c:pt idx="3">
                  <c:v>6-9</c:v>
                </c:pt>
                <c:pt idx="4">
                  <c:v>10+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23312</c:v>
                </c:pt>
                <c:pt idx="1">
                  <c:v>21961</c:v>
                </c:pt>
                <c:pt idx="2">
                  <c:v>11878</c:v>
                </c:pt>
                <c:pt idx="3">
                  <c:v>10037</c:v>
                </c:pt>
                <c:pt idx="4">
                  <c:v>5431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分期区间 AOV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AOV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2-3</c:v>
                </c:pt>
                <c:pt idx="2">
                  <c:v>4-5</c:v>
                </c:pt>
                <c:pt idx="3">
                  <c:v>6-9</c:v>
                </c:pt>
                <c:pt idx="4">
                  <c:v>10+</c:v>
                </c:pt>
              </c:strCache>
            </c:strRef>
          </c:cat>
          <c:val>
            <c:numRef>
              <c:f>'Chart Data'!$B$2:$B$6</c:f>
              <c:numCache>
                <c:formatCode>R$ #,##0</c:formatCode>
                <c:ptCount val="5"/>
                <c:pt idx="0">
                  <c:v>82.490551</c:v>
                </c:pt>
                <c:pt idx="1">
                  <c:v>113.64112</c:v>
                </c:pt>
                <c:pt idx="2">
                  <c:v>148.581882</c:v>
                </c:pt>
                <c:pt idx="3">
                  <c:v>218.601936</c:v>
                </c:pt>
                <c:pt idx="4">
                  <c:v>372.081276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准时 vs 晚到：差评率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差评率</c:v>
          </c:tx>
          <c:spPr>
            <a:solidFill xmlns:a="http://schemas.openxmlformats.org/drawingml/2006/main">
              <a:srgbClr val="B42318"/>
            </a:solidFill>
          </c:spPr>
          <c:cat>
            <c:strRef>
              <c:f>'Chart Data'!$A$2:$A$3</c:f>
              <c:strCache>
                <c:ptCount val="2"/>
                <c:pt idx="0">
                  <c:v>准时</c:v>
                </c:pt>
                <c:pt idx="1">
                  <c:v>晚到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0.09167</c:v>
                </c:pt>
                <c:pt idx="1">
                  <c:v>0.539828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准时 vs 晚到：平均评分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平均评分</c:v>
          </c:tx>
          <c:spPr>
            <a:solidFill xmlns:a="http://schemas.openxmlformats.org/drawingml/2006/main">
              <a:srgbClr val="22A39A"/>
            </a:solidFill>
          </c:spPr>
          <c:cat>
            <c:strRef>
              <c:f>'Chart Data'!$A$2:$A$3</c:f>
              <c:strCache>
                <c:ptCount val="2"/>
                <c:pt idx="0">
                  <c:v>准时</c:v>
                </c:pt>
                <c:pt idx="1">
                  <c:v>晚到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4.295086</c:v>
                </c:pt>
                <c:pt idx="1">
                  <c:v>2.566728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配送天数与平均评分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平均评分</c:v>
          </c:tx>
          <c:spPr>
            <a:solidFill xmlns:a="http://schemas.openxmlformats.org/drawingml/2006/main">
              <a:srgbClr val="22A39A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0-7</c:v>
                </c:pt>
                <c:pt idx="1">
                  <c:v>8-14</c:v>
                </c:pt>
                <c:pt idx="2">
                  <c:v>15-21</c:v>
                </c:pt>
                <c:pt idx="3">
                  <c:v>22-30</c:v>
                </c:pt>
                <c:pt idx="4">
                  <c:v>31+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4.418258</c:v>
                </c:pt>
                <c:pt idx="1">
                  <c:v>4.312299</c:v>
                </c:pt>
                <c:pt idx="2">
                  <c:v>4.140016</c:v>
                </c:pt>
                <c:pt idx="3">
                  <c:v>3.606401</c:v>
                </c:pt>
                <c:pt idx="4">
                  <c:v>2.241104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配送天数与差评率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差评率</c:v>
          </c:tx>
          <c:spPr>
            <a:solidFill xmlns:a="http://schemas.openxmlformats.org/drawingml/2006/main">
              <a:srgbClr val="B42318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0-7</c:v>
                </c:pt>
                <c:pt idx="1">
                  <c:v>8-14</c:v>
                </c:pt>
                <c:pt idx="2">
                  <c:v>15-21</c:v>
                </c:pt>
                <c:pt idx="3">
                  <c:v>22-30</c:v>
                </c:pt>
                <c:pt idx="4">
                  <c:v>31+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0.074407</c:v>
                </c:pt>
                <c:pt idx="1">
                  <c:v>0.089107</c:v>
                </c:pt>
                <c:pt idx="2">
                  <c:v>0.115962</c:v>
                </c:pt>
                <c:pt idx="3">
                  <c:v>0.242978</c:v>
                </c:pt>
                <c:pt idx="4">
                  <c:v>0.632527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评分分布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订单数</c:v>
          </c:tx>
          <c:spPr>
            <a:solidFill xmlns:a="http://schemas.openxmlformats.org/drawingml/2006/main">
              <a:srgbClr val="2F6BFF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9275</c:v>
                </c:pt>
                <c:pt idx="1">
                  <c:v>2948</c:v>
                </c:pt>
                <c:pt idx="2">
                  <c:v>7895</c:v>
                </c:pt>
                <c:pt idx="3">
                  <c:v>18894</c:v>
                </c:pt>
                <c:pt idx="4">
                  <c:v>56556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评分对应 GMV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GMV</c:v>
          </c:tx>
          <c:spPr>
            <a:solidFill xmlns:a="http://schemas.openxmlformats.org/drawingml/2006/main">
              <a:srgbClr val="22A39A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R$ #,##0</c:formatCode>
                <c:ptCount val="5"/>
                <c:pt idx="0">
                  <c:v>1534400.48</c:v>
                </c:pt>
                <c:pt idx="1">
                  <c:v>423993.99</c:v>
                </c:pt>
                <c:pt idx="2">
                  <c:v>1006367.1</c:v>
                </c:pt>
                <c:pt idx="3">
                  <c:v>2497171.68</c:v>
                </c:pt>
                <c:pt idx="4">
                  <c:v>7608286.25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Top 10 品类 GMV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GMV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Data'!$A$2:$A$11</c:f>
              <c:strCache>
                <c:ptCount val="10"/>
                <c:pt idx="0">
                  <c:v>health_beauty</c:v>
                </c:pt>
                <c:pt idx="1">
                  <c:v>watches_gifts</c:v>
                </c:pt>
                <c:pt idx="2">
                  <c:v>bed_bath_table</c:v>
                </c:pt>
                <c:pt idx="3">
                  <c:v>sports_leisure</c:v>
                </c:pt>
                <c:pt idx="4">
                  <c:v>computers_accessories</c:v>
                </c:pt>
                <c:pt idx="5">
                  <c:v>furniture_decor</c:v>
                </c:pt>
                <c:pt idx="6">
                  <c:v>housewares</c:v>
                </c:pt>
                <c:pt idx="7">
                  <c:v>cool_stuff</c:v>
                </c:pt>
                <c:pt idx="8">
                  <c:v>auto</c:v>
                </c:pt>
                <c:pt idx="9">
                  <c:v>garden_tools</c:v>
                </c:pt>
              </c:strCache>
            </c:strRef>
          </c:cat>
          <c:val>
            <c:numRef>
              <c:f>'Chart Data'!$B$2:$B$11</c:f>
              <c:numCache>
                <c:formatCode>R$ #,##0</c:formatCode>
                <c:ptCount val="10"/>
                <c:pt idx="0">
                  <c:v>1229557.5</c:v>
                </c:pt>
                <c:pt idx="1">
                  <c:v>1163465.91</c:v>
                </c:pt>
                <c:pt idx="2">
                  <c:v>1022955.77</c:v>
                </c:pt>
                <c:pt idx="3">
                  <c:v>952840.4</c:v>
                </c:pt>
                <c:pt idx="4">
                  <c:v>888055.59</c:v>
                </c:pt>
                <c:pt idx="5">
                  <c:v>706237.17</c:v>
                </c:pt>
                <c:pt idx="6">
                  <c:v>614341.62</c:v>
                </c:pt>
                <c:pt idx="7">
                  <c:v>609158</c:v>
                </c:pt>
                <c:pt idx="8">
                  <c:v>577838.39</c:v>
                </c:pt>
                <c:pt idx="9">
                  <c:v>469135.4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Top 品类运费占比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运费占比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Data'!$A$2:$A$11</c:f>
              <c:strCache>
                <c:ptCount val="10"/>
                <c:pt idx="0">
                  <c:v>health_beauty</c:v>
                </c:pt>
                <c:pt idx="1">
                  <c:v>watches_gifts</c:v>
                </c:pt>
                <c:pt idx="2">
                  <c:v>bed_bath_table</c:v>
                </c:pt>
                <c:pt idx="3">
                  <c:v>sports_leisure</c:v>
                </c:pt>
                <c:pt idx="4">
                  <c:v>computers_accessories</c:v>
                </c:pt>
                <c:pt idx="5">
                  <c:v>furniture_decor</c:v>
                </c:pt>
                <c:pt idx="6">
                  <c:v>housewares</c:v>
                </c:pt>
                <c:pt idx="7">
                  <c:v>cool_stuff</c:v>
                </c:pt>
                <c:pt idx="8">
                  <c:v>auto</c:v>
                </c:pt>
                <c:pt idx="9">
                  <c:v>garden_tools</c:v>
                </c:pt>
              </c:strCache>
            </c:strRef>
          </c:cat>
          <c:val>
            <c:numRef>
              <c:f>'Chart Data'!$B$2:$B$11</c:f>
              <c:numCache>
                <c:formatCode>0.0%</c:formatCode>
                <c:ptCount val="10"/>
                <c:pt idx="0">
                  <c:v>0.126698</c:v>
                </c:pt>
                <c:pt idx="1">
                  <c:v>0.077741</c:v>
                </c:pt>
                <c:pt idx="2">
                  <c:v>0.164663</c:v>
                </c:pt>
                <c:pt idx="3">
                  <c:v>0.147295</c:v>
                </c:pt>
                <c:pt idx="4">
                  <c:v>0.139366</c:v>
                </c:pt>
                <c:pt idx="5">
                  <c:v>0.1921</c:v>
                </c:pt>
                <c:pt idx="6">
                  <c:v>0.189278</c:v>
                </c:pt>
                <c:pt idx="7">
                  <c:v>0.11773</c:v>
                </c:pt>
                <c:pt idx="8">
                  <c:v>0.135243</c:v>
                </c:pt>
                <c:pt idx="9">
                  <c:v>0.170976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Top 10 州 GMV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GMV</c:v>
          </c:tx>
          <c:spPr>
            <a:solidFill xmlns:a="http://schemas.openxmlformats.org/drawingml/2006/main">
              <a:srgbClr val="22A39A"/>
            </a:solidFill>
          </c:spPr>
          <c:cat>
            <c:strRef>
              <c:f>'Chart Data'!$A$2:$A$11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GO</c:v>
                </c:pt>
                <c:pt idx="9">
                  <c:v>ES</c:v>
                </c:pt>
              </c:strCache>
            </c:strRef>
          </c:cat>
          <c:val>
            <c:numRef>
              <c:f>'Chart Data'!$B$2:$B$11</c:f>
              <c:numCache>
                <c:formatCode>R$ #,##0</c:formatCode>
                <c:ptCount val="10"/>
                <c:pt idx="0">
                  <c:v>5055587.13</c:v>
                </c:pt>
                <c:pt idx="1">
                  <c:v>1751433.85</c:v>
                </c:pt>
                <c:pt idx="2">
                  <c:v>1548206.88</c:v>
                </c:pt>
                <c:pt idx="3">
                  <c:v>726373.92</c:v>
                </c:pt>
                <c:pt idx="4">
                  <c:v>664048</c:v>
                </c:pt>
                <c:pt idx="5">
                  <c:v>504774.07</c:v>
                </c:pt>
                <c:pt idx="6">
                  <c:v>493339.26</c:v>
                </c:pt>
                <c:pt idx="7">
                  <c:v>295454.64</c:v>
                </c:pt>
                <c:pt idx="8">
                  <c:v>281932.21</c:v>
                </c:pt>
                <c:pt idx="9">
                  <c:v>267783.66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Top 州晚到率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晚到率</c:v>
          </c:tx>
          <c:spPr>
            <a:solidFill xmlns:a="http://schemas.openxmlformats.org/drawingml/2006/main">
              <a:srgbClr val="B42318"/>
            </a:solidFill>
          </c:spPr>
          <c:cat>
            <c:strRef>
              <c:f>'Chart Data'!$A$2:$A$11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GO</c:v>
                </c:pt>
                <c:pt idx="9">
                  <c:v>ES</c:v>
                </c:pt>
              </c:strCache>
            </c:strRef>
          </c:cat>
          <c:val>
            <c:numRef>
              <c:f>'Chart Data'!$B$2:$B$11</c:f>
              <c:numCache>
                <c:formatCode>0.0%</c:formatCode>
                <c:ptCount val="10"/>
                <c:pt idx="0">
                  <c:v>0.059011</c:v>
                </c:pt>
                <c:pt idx="1">
                  <c:v>0.135175</c:v>
                </c:pt>
                <c:pt idx="2">
                  <c:v>0.056277</c:v>
                </c:pt>
                <c:pt idx="3">
                  <c:v>0.07171</c:v>
                </c:pt>
                <c:pt idx="4">
                  <c:v>0.050173</c:v>
                </c:pt>
                <c:pt idx="5">
                  <c:v>0.097823</c:v>
                </c:pt>
                <c:pt idx="6">
                  <c:v>0.140486</c:v>
                </c:pt>
                <c:pt idx="7">
                  <c:v>0.070878</c:v>
                </c:pt>
                <c:pt idx="8">
                  <c:v>0.082051</c:v>
                </c:pt>
                <c:pt idx="9">
                  <c:v>0.12249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832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成熟 cohort 复购率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30天</c:v>
          </c:tx>
          <c:spPr>
            <a:solidFill xmlns:a="http://schemas.openxmlformats.org/drawingml/2006/main">
              <a:srgbClr val="22A39A"/>
            </a:solidFill>
          </c:spPr>
          <c:marker>
            <c:symbol val="none"/>
          </c:marker>
          <c:cat>
            <c:strRef>
              <c:f>'Chart Data'!$A$2:$A$17</c:f>
              <c:strCache>
                <c:ptCount val="16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</c:strCache>
            </c:strRef>
          </c:cat>
          <c:val>
            <c:numRef>
              <c:f>'Chart Data'!$B$2:$B$17</c:f>
              <c:numCache>
                <c:formatCode>0.0%</c:formatCode>
                <c:ptCount val="16"/>
                <c:pt idx="0">
                  <c:v>0.033426</c:v>
                </c:pt>
                <c:pt idx="1">
                  <c:v>0.014128</c:v>
                </c:pt>
                <c:pt idx="2">
                  <c:v>0.017579</c:v>
                </c:pt>
                <c:pt idx="3">
                  <c:v>0.015064</c:v>
                </c:pt>
                <c:pt idx="4">
                  <c:v>0.021733</c:v>
                </c:pt>
                <c:pt idx="5">
                  <c:v>0.019756</c:v>
                </c:pt>
                <c:pt idx="6">
                  <c:v>0.02105</c:v>
                </c:pt>
                <c:pt idx="7">
                  <c:v>0.019965</c:v>
                </c:pt>
                <c:pt idx="8">
                  <c:v>0.020225</c:v>
                </c:pt>
                <c:pt idx="9">
                  <c:v>0.016174</c:v>
                </c:pt>
                <c:pt idx="10">
                  <c:v>0.018128</c:v>
                </c:pt>
                <c:pt idx="11">
                  <c:v>0.01124</c:v>
                </c:pt>
                <c:pt idx="12">
                  <c:v>0.015344</c:v>
                </c:pt>
                <c:pt idx="13">
                  <c:v>0.024173</c:v>
                </c:pt>
                <c:pt idx="14">
                  <c:v>0.015203</c:v>
                </c:pt>
                <c:pt idx="15">
                  <c:v>0.010787</c:v>
                </c:pt>
              </c:numCache>
            </c:numRef>
          </c:val>
        </c:ser>
        <c:ser>
          <c:idx val="1"/>
          <c:order val="1"/>
          <c:tx>
            <c:v>60天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strRef>
              <c:f>'Chart Data'!$C$2:$C$17</c:f>
              <c:strCache>
                <c:ptCount val="16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</c:strCache>
            </c:strRef>
          </c:cat>
          <c:val>
            <c:numRef>
              <c:f>'Chart Data'!$D$2:$D$17</c:f>
              <c:numCache>
                <c:formatCode>0.0%</c:formatCode>
                <c:ptCount val="16"/>
                <c:pt idx="0">
                  <c:v>0.036212</c:v>
                </c:pt>
                <c:pt idx="1">
                  <c:v>0.015356</c:v>
                </c:pt>
                <c:pt idx="2">
                  <c:v>0.019976</c:v>
                </c:pt>
                <c:pt idx="3">
                  <c:v>0.019052</c:v>
                </c:pt>
                <c:pt idx="4">
                  <c:v>0.0255</c:v>
                </c:pt>
                <c:pt idx="5">
                  <c:v>0.024037</c:v>
                </c:pt>
                <c:pt idx="6">
                  <c:v>0.023981</c:v>
                </c:pt>
                <c:pt idx="7">
                  <c:v>0.025635</c:v>
                </c:pt>
                <c:pt idx="8">
                  <c:v>0.02422</c:v>
                </c:pt>
                <c:pt idx="9">
                  <c:v>0.02195</c:v>
                </c:pt>
                <c:pt idx="10">
                  <c:v>0.02096</c:v>
                </c:pt>
                <c:pt idx="11">
                  <c:v>0.013863</c:v>
                </c:pt>
                <c:pt idx="12">
                  <c:v>0.018851</c:v>
                </c:pt>
                <c:pt idx="13">
                  <c:v>0.027195</c:v>
                </c:pt>
                <c:pt idx="14">
                  <c:v>0.01845</c:v>
                </c:pt>
                <c:pt idx="15">
                  <c:v>0.015345</c:v>
                </c:pt>
              </c:numCache>
            </c:numRef>
          </c:val>
        </c:ser>
        <c:ser>
          <c:idx val="2"/>
          <c:order val="2"/>
          <c:tx>
            <c:v>90天</c:v>
          </c:tx>
          <c:spPr>
            <a:solidFill xmlns:a="http://schemas.openxmlformats.org/drawingml/2006/main">
              <a:srgbClr val="B42318"/>
            </a:solidFill>
          </c:spPr>
          <c:marker>
            <c:symbol val="none"/>
          </c:marker>
          <c:cat>
            <c:strRef>
              <c:f>'Chart Data'!$E$2:$E$17</c:f>
              <c:strCache>
                <c:ptCount val="16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</c:strCache>
            </c:strRef>
          </c:cat>
          <c:val>
            <c:numRef>
              <c:f>'Chart Data'!$F$2:$F$17</c:f>
              <c:numCache>
                <c:formatCode>0.0%</c:formatCode>
                <c:ptCount val="16"/>
                <c:pt idx="0">
                  <c:v>0.036212</c:v>
                </c:pt>
                <c:pt idx="1">
                  <c:v>0.017199</c:v>
                </c:pt>
                <c:pt idx="2">
                  <c:v>0.02477</c:v>
                </c:pt>
                <c:pt idx="3">
                  <c:v>0.021267</c:v>
                </c:pt>
                <c:pt idx="4">
                  <c:v>0.028398</c:v>
                </c:pt>
                <c:pt idx="5">
                  <c:v>0.028317</c:v>
                </c:pt>
                <c:pt idx="6">
                  <c:v>0.025846</c:v>
                </c:pt>
                <c:pt idx="7">
                  <c:v>0.027853</c:v>
                </c:pt>
                <c:pt idx="8">
                  <c:v>0.028464</c:v>
                </c:pt>
                <c:pt idx="9">
                  <c:v>0.022412</c:v>
                </c:pt>
                <c:pt idx="10">
                  <c:v>0.023226</c:v>
                </c:pt>
                <c:pt idx="11">
                  <c:v>0.017235</c:v>
                </c:pt>
                <c:pt idx="12">
                  <c:v>0.02192</c:v>
                </c:pt>
                <c:pt idx="13">
                  <c:v>0.029898</c:v>
                </c:pt>
                <c:pt idx="14">
                  <c:v>0.019926</c:v>
                </c:pt>
                <c:pt idx="15">
                  <c:v>0.017168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3708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卖家 GMV 累计份额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累计GMV份额</c:v>
          </c:tx>
          <c:spPr>
            <a:solidFill xmlns:a="http://schemas.openxmlformats.org/drawingml/2006/main">
              <a:srgbClr val="2F6BFF"/>
            </a:solidFill>
          </c:spPr>
          <c:marker>
            <c:symbol val="none"/>
          </c:marker>
          <c:cat>
            <c:strRef>
              <c:f>'Chart Data'!$A$2:$A$10</c:f>
              <c:strCache>
                <c:ptCount val="9"/>
                <c:pt idx="0">
                  <c:v>Top 1</c:v>
                </c:pt>
                <c:pt idx="1">
                  <c:v>Top 10</c:v>
                </c:pt>
                <c:pt idx="2">
                  <c:v>Top 50</c:v>
                </c:pt>
                <c:pt idx="3">
                  <c:v>Top 100</c:v>
                </c:pt>
                <c:pt idx="4">
                  <c:v>Top 200</c:v>
                </c:pt>
                <c:pt idx="5">
                  <c:v>Top 531</c:v>
                </c:pt>
                <c:pt idx="6">
                  <c:v>Top 1000</c:v>
                </c:pt>
                <c:pt idx="7">
                  <c:v>Top 2000</c:v>
                </c:pt>
                <c:pt idx="8">
                  <c:v>全部</c:v>
                </c:pt>
              </c:strCache>
            </c:strRef>
          </c:cat>
          <c:val>
            <c:numRef>
              <c:f>'Chart Data'!$B$2:$B$10</c:f>
              <c:numCache>
                <c:formatCode>0.0%</c:formatCode>
                <c:ptCount val="9"/>
                <c:pt idx="0">
                  <c:v>0.017221</c:v>
                </c:pt>
                <c:pt idx="1">
                  <c:v>0.133025</c:v>
                </c:pt>
                <c:pt idx="2">
                  <c:v>0.332263</c:v>
                </c:pt>
                <c:pt idx="3">
                  <c:v>0.455567</c:v>
                </c:pt>
                <c:pt idx="4">
                  <c:v>0.58801</c:v>
                </c:pt>
                <c:pt idx="5">
                  <c:v>0.800295</c:v>
                </c:pt>
                <c:pt idx="6">
                  <c:v>0.919334</c:v>
                </c:pt>
                <c:pt idx="7">
                  <c:v>0.989524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E0F3F-96AE-4802-BC4D-2C24E84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14EA2-5FAB-400F-B261-25CC652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Olist 电商经营与支付绩效分析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21C5-94FB-4237-89D4-399984C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A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AE8"/>
                </a:solidFill>
                <a:latin typeface="Microsoft YaHei"/>
                <a:ea typeface="Microsoft YaHei"/>
                <a:cs typeface="Microsoft YaHei"/>
              </a:rPr>
              <a:t>从交易、支付、履约、评价到复购与供给集中度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B9814-121B-4450-A3F8-0D7BB73F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1476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7328C-DE51-4AEC-9CEC-77B550F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96,211 笔已送达订单 · 14 个原生图表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401A3-C148-4CF7-B116-21E7DD36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rPr>
              <a:t>Python · SQL · Excel · Power BI 数据模型 ·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19FDD-E2C8-405F-9915-78523D8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rPr>
              <a:t>公开真实交易数据｜结论经独立 Locator / Mechanism / Falsifier / Reviewer 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A950B-98AE-4F4F-92A8-1450667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00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463691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D6607-42D4-4BE1-BF80-FC9C2882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业务问题与分析闭环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EDFFE-FEDB-433B-8BFA-5523C41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FBAD3-32C4-44C8-AE07-F76C18B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围绕经营规模、支付结构、履约体验与客户资产形成可执行优先级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9F74D-8AB3-4046-B65F-1C96B76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75040-8F6C-4DAF-9327-1D38C753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数据收集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BBA2-4F70-4529-A1CE-DAA89C0E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Olist 8 张原始表</a:t>
            </a:r>
          </a:p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订单、商品、支付、评价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5ECC8-5420-4C8E-8B68-E150FB9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4310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5C59F-C3FE-4A09-9C48-1D0EFC41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F258A-9A61-4A8D-AA4B-282DF4A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954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清洗建模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12CEF-A5F5-468F-9FE2-9C6F32D1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订单级分析宽表</a:t>
            </a:r>
          </a:p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聚合表与 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63687-B662-4B09-BA3F-51B9A9FB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4485A-B619-4AA3-B772-524E38C8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37522-73F5-4150-AEE9-7A25CA3B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指标分析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2B509-172E-4437-B200-2BAD45D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GMV / AOV / 晚到</a:t>
            </a:r>
          </a:p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评价 / 复购 / 集中度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4886A-C6E3-45E6-87CF-5183B9C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63838-5BCA-4ED0-9A7E-2F698B8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8590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8D4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E1B13-4A3D-4484-9459-8054FE2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业务交付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818B4-685D-424E-A382-5F5AF3DE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Excel / PPT / HTML</a:t>
            </a:r>
          </a:p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Power BI 指标与动作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2FA7A-FB0A-4C1B-AE1D-BDAC516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0CD98-0F3B-4195-BAFB-737C11A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经营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057FC-8C9D-430E-8A88-6A58A9D6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规模增长来自订单量还是客单价？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3D185-59A7-4D2D-9394-B8F0F82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19500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CE1F1-B43C-44A5-BD1E-1A7CFE70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33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3652A-C761-4BDD-89CF-7ECB151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信用卡与分期承担怎样的交易结构？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E8F14-4DC9-4FE5-8D9D-B4ACA4F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1B5D3-C222-452A-8B7E-4D91454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BF063-0F66-4039-B203-2CEC23F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晚到与差评是否形成稳定关联？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254D3-1D6F-4F23-9607-0D5CF0C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10100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2775B-CCC4-4845-8714-6C28114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rPr>
              <a:t>客户/供给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894DD-2FDD-4164-8694-F741DF8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05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复购与卖家集中度暴露什么风险？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C051E-0592-486F-9189-BF815BB8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0EF8A-26A2-4050-B6A5-7E15AF08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Olist public e-commerce dataset; Python / SQLite analysis.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22006-106F-4128-BC81-441A49CA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6700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DCAA6-E0BB-453A-85E2-6EDD01C4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数据范围、口径与质量门禁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C98CF-FD05-4761-97C4-4905B0C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63DE4-E8C1-4524-BA81-8364F3C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分析窗口统一限定 2017-01 至 2018-08 已送达订单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433E6-807E-4BB9-89C0-A06BB5A5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96,211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F17F9-4C72-4F66-AF4F-93519710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C9F6-1D5C-4FBB-8DE4-5EF25BA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93,104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87500-6D8F-4067-B826-16615F3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C15B1-87FF-4C17-B0D8-26248E6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573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R$ 13.18M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D70B0-CD23-45F0-AFE4-F089A1A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GMV（不含运费）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52E57-A261-4E6F-9415-A66D712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rPr>
              <a:t>R$ 15.38M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00159-3C0C-4662-90BF-95C3DD2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交易支付金额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66750" y="2619375"/>
          <a:ext xmlns:a="http://schemas.openxmlformats.org/drawingml/2006/main" cx="105727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857500"/>
                <a:gridCol w="2952750"/>
                <a:gridCol w="3048000"/>
              </a:tblGrid>
              <a:tr h="5524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76200" marR="76200" marT="47625" marB="47625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统一口径</a:t>
                      </a:r>
                    </a:p>
                  </a:txBody>
                  <a:tcPr marL="76200" marR="76200" marT="47625" marB="47625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可回答</a:t>
                      </a:r>
                    </a:p>
                  </a:txBody>
                  <a:tcPr marL="76200" marR="76200" marT="47625" marB="47625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不可回答</a:t>
                      </a:r>
                    </a:p>
                  </a:txBody>
                  <a:tcPr marL="76200" marR="76200" marT="47625" marB="47625" anchor="ctr">
                    <a:solidFill>
                      <a:srgbClr val="18324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经营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已送达订单；GMV=商品价格合计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规模、结构、集中度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净收入、毛利、退款后收益</a:t>
                      </a:r>
                    </a:p>
                  </a:txBody>
                  <a:tcPr marL="76200" marR="76200" marT="47625" marB="47625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支付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订单主支付方式=最大支付记录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结构、分期分布、对账差异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tender 份额、坏账、拒付</a:t>
                      </a:r>
                    </a:p>
                  </a:txBody>
                  <a:tcPr marL="76200" marR="76200" marT="47625" marB="47625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履约/体验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晚到=签收晚于预计；差评≤2分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订单级关联与优先级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晚到导致差评的因果效应</a:t>
                      </a:r>
                    </a:p>
                  </a:txBody>
                  <a:tcPr marL="76200" marR="76200" marT="47625" marB="47625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90天复购只用成熟 cohort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窗口内复购描述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 LTV、自然留存与增量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B69DE-11D6-4C92-A381-B53C9212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质量门禁：DEGRADED。缺退款、成本、流量、实验与长期窗口，因此所有动作均作为实验/补数优先级。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CDBDA-36CD-485A-B99D-25DA308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16596-3803-4AE3-878B-4D5308EF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Olist public e-commerce dataset; Python / SQLite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937EB-C523-476A-8DAC-5EDA703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752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6E3DB-DA0D-4348-A69A-2532A619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管理层摘要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67669-6A3B-45BC-9585-B12F155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1896-F1DC-4666-84C3-003D79BF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规模可观，但履约、复购与集中度是比支付结构更值得优先治理的风险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55177-D8CD-40F9-96D3-BDDD842A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R$ 13.18M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0C0E5-6922-4F44-86F7-1FC5946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GMV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CB631-5434-4E5B-9BB0-8D913660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52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R$ 137.00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2A91E-1CD0-442A-B0A1-0B0DF39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AOV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A7428-DDB8-4C13-842C-148A541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52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8.1%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2D446-F82A-408D-B2F4-D1E206E1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晚到率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A165C-E4F6-4E44-9A2F-5C0844D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2.3%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BDB47-A800-4F9A-AE12-F47DBEB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成熟 cohort 90天复购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84CD3-898B-4BE7-993B-2AE67F6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CCD6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C2E3D-56CF-4E51-9731-A28E317D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履约体验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31A7A-7AA4-4C25-AD6E-C593224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晚到订单差评率 54.0%，准时订单 9.2%。先做高风险路线/卖家分层治理。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DA266-9735-404E-A410-1A12E52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CD6E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945E7-1564-497E-9232-0AEAD83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支付结构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B631-5E47-420E-B63D-22A7761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信用卡主支付订单占 75.5%；分期与高 AOV 是选择相关，不解释为拉升客单。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D173C-53D3-4875-8035-FB4186B2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2F4F2"/>
          </a:solidFill>
          <a:ln xmlns:a="http://schemas.openxmlformats.org/drawingml/2006/main" w="9525">
            <a:solidFill>
              <a:srgbClr val="CCD6E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67941-1AAF-46C7-9BD3-38895915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rPr>
              <a:t>供给结构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4AA7C-420D-40F4-866F-7036D9A2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338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Top10 品类贡献 62.5% GMV；531 个卖家累计达到 80% GMV。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9D0BB-4861-4340-BA95-FA8D50B6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优先级：P1 履约预警与晚到治理 → P2 复购实验与 cohort 监控 → P3 支付对账异常隔离。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A5CE9-F472-486C-B4BC-375004D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D92B4-4B6A-49F0-AA4C-727E45C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Olist public e-commerce dataset; Python / SQLite analysis.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D2EC5-6C14-4659-82B2-C762B17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6708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C4C84-EF4C-42A7-B00A-E7CF89BF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月度经营：规模爬坡明显，客单价总体稳定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6161B-8EE1-48F5-8CFA-B7363A8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24D14-2185-46CA-8B16-E7B5D78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月度波动受业务爬坡与数据边界影响，不作为外部市场趋势结论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6b0a71d14a4fcb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858125" y="1381125"/>
          <a:ext xmlns:a="http://schemas.openxmlformats.org/drawingml/2006/main" cx="3714750" cy="190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aa7e37b250427a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858125" y="3524250"/>
          <a:ext xmlns:a="http://schemas.openxmlformats.org/drawingml/2006/main" cx="3714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c3cb828f84437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A6637-1DE6-42DB-B18A-E339600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2017-11 出现峰值，2018-03 晚到率异常抬升；月份细节用于定位，不进入核心 claims。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C069C-CDB9-44FF-9D4D-2B6E1AD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BCDA9-BEBA-4E08-A453-B9797D5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monthly_performance.csv; descriptive diagnostics.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D31F-404B-42BC-BFEA-3FADA67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5730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0F59E-DE84-4E37-BE01-330FC012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支付结构：信用卡主导交易，但“主支付方式”不是 tender 份额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5539B-B4CC-498A-B168-E3FF452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5C6EF-ABD4-40D0-8573-1602DA34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订单主支付方式定义为最大支付记录，混合支付订单需单独识别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7c15225ed444e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762875" y="1428750"/>
          <a:ext xmlns:a="http://schemas.openxmlformats.org/drawingml/2006/main" cx="3810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461ee9255541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3D56E-971D-4042-B292-62F7F2D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95750"/>
            <a:ext cx="3810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E6C98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61CF9-CF6F-430E-9227-8D0AF6F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48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对账提醒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7B7F4-A086-431E-8D73-08682D4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5910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订单支付金额与订单价值绝对差异合计 R$ 7735.71，约占支付金额 0.050%。该指标不是坏账率。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FB044-D151-4076-970C-A3C3C3C3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92579-8758-4B3D-A659-1C6AD235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Evidence E004 · primary payment classification and reconciliation.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6C784-237F-4845-9883-9896D53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6852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34E46-91B3-4A3C-9411-141B85F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分期结构：长分期对应更高客单，但只能解释为订单选择差异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38FDA-D602-4A3F-8202-62651E5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11962-90A7-4A25-BE4A-47A222C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需要随机实验或准实验才能判断分期策略是否带来增量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5334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7acbd54ee04e72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29375" y="1428750"/>
          <a:ext xmlns:a="http://schemas.openxmlformats.org/drawingml/2006/main" cx="5143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b04cb14076422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8633C-81D8-4A61-BD57-B3A9FF9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1 期 AOV 到 10+ 期 AOV 呈上升关系，但高价订单本就更可能选择长分期；禁止写成“分期提升 AOV”。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72EC3-708C-4BD6-8957-E99A278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A9031-0BBE-443E-B128-8721FACE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installment_performance.csv; association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1E83-75F6-4AE2-87FB-E84713D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5020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A4689-5775-4871-BF01-5003F83B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履约体验：晚到订单的低评分风险显著更高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51756-DE21-44DC-B540-390FD8F6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6CB3C-782F-4E90-82C9-0C6A961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方向在月份与州维度一致，但当前数据仍不支持因果归因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52863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0be6257b0346a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334125" y="1428750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b701e151a543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64D27-A2E0-46E8-A819-3F69AD12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晚到订单平均评分 2.57，准时订单 4.30；差评率分别为 54.0% 与 9.2%。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EC41C-EDE4-4325-B0D1-238F4F7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7B19F-AD3C-45FD-AE6D-1911680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Evidence E003 · order-level association, not causal effect.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D8D98-CA82-45D8-AD86-B5339C9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0144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1A7F4-0E09-44E9-9009-06446B1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配送时长与评价：超过 21 天后体验快速恶化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A0F0C-0E26-4565-82D4-98B8B75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50F69-7AE4-47A3-A5BD-D3918E21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评价缺失率在晚到订单更高，需在后续模型中纳入缺失机制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52863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b7aecb8dcc402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334125" y="1428750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91d1d001e248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8D3EC-456C-49FA-86F1-B061682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动作候选：对预计超过 21 天订单建立主动沟通、卖家/线路预警；上线前按订单价值与地区做分层实验。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27519-CDB3-4456-83D6-EAB7D64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3C013-3C74-4D85-BEF0-094594A3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delivery_band_performance.csv; descriptive association.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84811-17D9-491F-BC7E-0818AD67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7930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6C123-EAAF-4950-AD6A-ED3EFB6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评价分布：五星占多数，但差评订单对履约问题高度敏感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B32CF-0F5C-4FBF-B21B-48CFB04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D083E-8DBF-41E9-BD6F-77B34CC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将低分率作为服务护栏，而非单独追求平均分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5334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4576d909f54e5f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29375" y="1428750"/>
          <a:ext xmlns:a="http://schemas.openxmlformats.org/drawingml/2006/main" cx="5143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4cf66154bd40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C96E-9513-4C91-A68A-DB81074E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整体平均评分 4.16，差评率 12.8%。建议同时监控晚到率、差评率和取消/退款（待补）三类护栏。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83965-A7FC-4B46-81A4-3B242A4C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160B8-1C64-46ED-A812-04EDBEC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review_distribution.csv.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5A104-86C5-4687-843C-CFC3EAF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0814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3A64E-4A35-485F-A0A4-8075E14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商品结构：头部品类贡献集中，运费占比需结合客单价解释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39CF7-DAD8-4921-B2BA-B5F8591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C7246-60AD-481D-AC0F-A29DD2C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electronics 的高运费占比主要是分母效应，不能直接等价为高物流成本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6572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9201e61f48487b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67625" y="1428750"/>
          <a:ext xmlns:a="http://schemas.openxmlformats.org/drawingml/2006/main" cx="3905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b8308a773f4c4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C598B-2B95-48D0-BC5C-B5A225BC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Top 10 品类贡献 62.5% GMV；整体运费占支付前订单价值 14.3%。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22053-6ABF-465F-84F2-B48E7F7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C65D2-B1C6-49C6-A432-03EA8B6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Evidence E002 and E006 · freight ratio is not logistics cost margin.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D7C49-1E1D-43DE-BE78-B7BA88AB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8943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40D7B-42A6-494B-9B6E-6E017AE3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区域结构：SP 贡献最高，服务风险需要结合地区规模排序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0B1A-A81E-4106-8E22-2FD83A8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03B0D-C4BD-4857-A7E8-2E13465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地区治理采用“规模 × 晚到率”双维度，而不是只追求最低晚到率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6572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e349ec92e447ee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67625" y="1428750"/>
          <a:ext xmlns:a="http://schemas.openxmlformats.org/drawingml/2006/main" cx="3905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79819fbab41e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988E2-CF06-46D9-9CB5-51336C3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SP 贡献 38.4% GMV；建议优先处理“订单量大且晚到率高”的州/线路组合。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4A806-789C-45EF-85C2-D31642D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CF5CE-B6E4-4427-BD1B-ED315C5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Evidence E006 · state concentration.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563E-9B44-475F-AC5B-89148DA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00868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3DC69-AF17-4F4A-BC26-775B8E5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客户与供给：复购偏低，卖家集中度形成双重经营约束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2DEA-3EFD-469C-8934-A9B2D61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941F-94CB-4626-A6E9-537E628C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90 天复购仅统计拥有完整 90 天观察窗口的成熟 cohort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6191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653a06b704c6a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286625" y="1428750"/>
          <a:ext xmlns:a="http://schemas.openxmlformats.org/drawingml/2006/main" cx="4286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28de464d45477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22C3C-E49C-414B-AE5F-7DD3EB3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成熟 cohort 90 天复购率 2.3%；531 个卖家累计达到 80% GMV。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9044D-8814-424D-96FB-34F136B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65FEA-CF16-4195-8F8A-94143CE8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Evidence E005-E006 · mature cohort and seller concentration.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2EE5D-4FFC-46AC-A7B3-55B1B67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7794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8D736-35BC-40F9-9135-8716896A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行动路线图与验证设计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A8F8F-176E-487A-851F-30F7793A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56159-0DF2-44A3-964D-5995A5B9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2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用补数、分层实验和服务护栏把诊断转成可验证决策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11049000" cy="4171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2286000"/>
                <a:gridCol w="3143250"/>
                <a:gridCol w="2333625"/>
                <a:gridCol w="2333625"/>
              </a:tblGrid>
              <a:tr h="83439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66675" marR="66675" marT="57150" marB="57150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66675" marR="66675" marT="57150" marB="57150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66675" marR="66675" marT="57150" marB="57150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核心指标</a:t>
                      </a:r>
                    </a:p>
                  </a:txBody>
                  <a:tcPr marL="66675" marR="66675" marT="57150" marB="57150" anchor="ctr"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停止/边界条件</a:t>
                      </a:r>
                    </a:p>
                  </a:txBody>
                  <a:tcPr marL="66675" marR="66675" marT="57150" marB="57150" anchor="ctr">
                    <a:solidFill>
                      <a:srgbClr val="18324B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高风险州/卖家/路线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晚到预警 + 主动沟通；分层随机试验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晚到率、差评率、退款率（待补）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差评无改善或成本过高则停止</a:t>
                      </a:r>
                    </a:p>
                  </a:txBody>
                  <a:tcPr marL="66675" marR="66675" marT="57150" marB="57150" anchor="ctr"/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成熟首购 cohort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30/60/90 天复购触达实验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增量复购率、增量GMV、退订率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 MDE 与显著性门槛控制扩量</a:t>
                      </a:r>
                    </a:p>
                  </a:txBody>
                  <a:tcPr marL="66675" marR="66675" marT="57150" marB="57150" anchor="ctr"/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支付对账异常订单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 433 类异常并补退款/拒付字段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对账差异率、异常回收率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不把差异率写成坏账率</a:t>
                      </a:r>
                    </a:p>
                  </a:txBody>
                  <a:tcPr marL="66675" marR="66675" marT="57150" marB="57150" anchor="ctr"/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长分期高价订单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测试分期提示，不直接扩大补贴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AOV、支付成功率、毛利（待补）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必须用实验识别增量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6193F-11AC-49A2-B1B2-BCC08D65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建议先执行 P1；它同时覆盖最大可控风险、用户体验与后续复购实验的样本质量。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18F2D-F867-476B-A73B-C4628C52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F807E-3F21-406D-9DAE-26F7A9E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Source: Olist public e-commerce dataset; Python / SQLite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AD05E-710E-4FA2-8D88-D343F7D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3708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33969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54331-2E8C-4B01-BC4E-6907E579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项目交付与简历定位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A5DA1-497E-478A-B02A-91BD33E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A3CD1-F79E-4556-83A7-A96EBB24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8CF5C-696E-4112-8BE4-8ABF2A6A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Python 清洗与指标流水线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SQLite 分析库与 8 组 SQL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Excel 6 页 / 16 图可编辑看板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Power BI 星型模型与 DAX 指南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15 页 PPT / 14 图业务汇报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独立证据门禁与 HTML 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0E32-3866-4BF2-B3D5-B985BAA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简历可强调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5AB0-98D0-4085-91E3-A73E759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• 端到端真实数据项目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• 指标口径与多表建模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• 交易、履约、复购与集中度分析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• 把诊断转为实验与行动优先级</a:t>
            </a:r>
          </a:p>
          <a:p xmlns:a="http://schemas.openxmlformats.org/drawingml/2006/main">
            <a:pPr algn="l">
              <a:def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2ED"/>
                </a:solidFill>
                <a:latin typeface="Microsoft YaHei"/>
                <a:ea typeface="Microsoft YaHei"/>
                <a:cs typeface="Microsoft YaHei"/>
              </a:rPr>
              <a:t>• 明确区分事实、关联与因果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653F0-0056-4C59-94A9-2EF9461A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47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35679-E080-46DB-9EB3-DAC900D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39A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42E89-C8A2-41BA-9D4B-F7DD5CD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当前最优先的经营抓手是履约风险治理；支付分期与复购策略应通过补数和实验验证增量。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24CA7-B5F4-4187-BB4E-B66A9D9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FC3D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4424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2026-09-22T13:57:10.3990000Z</dcterms:created>
  <dcterms:modified xsi:type="dcterms:W3CDTF">2026-09-22T13:57:10.3990000Z</dcterms:modified>
</coreProperties>
</file>